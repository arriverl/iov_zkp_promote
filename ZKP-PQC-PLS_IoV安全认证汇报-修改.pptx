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3.xml" ContentType="application/vnd.openxmlformats-officedocument.theme+xml"/>
  <Override PartName="/ppt/theme/theme2.xml" ContentType="application/vnd.openxmlformats-officedocument.them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19.xml" ContentType="application/vnd.openxmlformats-officedocument.presentationml.notesSlide+xml"/>
  <Override PartName="/docProps/app.xml" ContentType="application/vnd.openxmlformats-officedocument.extended-properties+xml"/>
  <Override PartName="/ppt/notesSlides/notesSlide1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2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6.xml" ContentType="application/vnd.openxmlformats-officedocument.presentationml.notes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notesSlides/notesSlide9.xml" ContentType="application/vnd.openxmlformats-officedocument.presentationml.notesSlide+xml"/>
  <Override PartName="/ppt/slides/slide2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1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  <p:sldMasterId id="214748365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 horzBarState="maximized">
    <p:restoredLeft sz="15611"/>
    <p:restoredTop sz="94610"/>
  </p:normalViewPr>
  <p:slideViewPr>
    <p:cSldViewPr snapToGrid="false" snapToObjects="true">
      <p:cViewPr varScale="true">
        <p:scale>
          <a:sx n="69" d="100"/>
          <a:sy n="69" d="100"/>
        </p:scale>
        <p:origin x="48" y="12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 /><Relationship Id="rId7" Type="http://schemas.openxmlformats.org/officeDocument/2006/relationships/slide" Target="slides/slide6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25" Type="http://schemas.openxmlformats.org/officeDocument/2006/relationships/presProps" Target="presProps.xml" /><Relationship Id="rId23" Type="http://schemas.openxmlformats.org/officeDocument/2006/relationships/slide" Target="slides/slide22.xml" /><Relationship Id="rId3" Type="http://schemas.openxmlformats.org/officeDocument/2006/relationships/slide" Target="slides/slide2.xml" /><Relationship Id="rId11" Type="http://schemas.openxmlformats.org/officeDocument/2006/relationships/slide" Target="slides/slide10.xml" /><Relationship Id="rId10" Type="http://schemas.openxmlformats.org/officeDocument/2006/relationships/slide" Target="slides/slide9.xml" /><Relationship Id="rId12" Type="http://schemas.openxmlformats.org/officeDocument/2006/relationships/slide" Target="slides/slide11.xml" /><Relationship Id="rId26" Type="http://schemas.openxmlformats.org/officeDocument/2006/relationships/tableStyles" Target="tableStyles.xml" /><Relationship Id="rId22" Type="http://schemas.openxmlformats.org/officeDocument/2006/relationships/slide" Target="slides/slide21.xml" /><Relationship Id="rId1" Type="http://schemas.openxmlformats.org/officeDocument/2006/relationships/slideMaster" Target="slideMasters/slideMaster2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3.xml" /><Relationship Id="rId13" Type="http://schemas.openxmlformats.org/officeDocument/2006/relationships/slide" Target="slides/slide12.xml" /><Relationship Id="rId15" Type="http://schemas.openxmlformats.org/officeDocument/2006/relationships/slide" Target="slides/slide14.xml" /><Relationship Id="rId9" Type="http://schemas.openxmlformats.org/officeDocument/2006/relationships/slide" Target="slides/slide8.xml" /><Relationship Id="rId27" Type="http://schemas.openxmlformats.org/officeDocument/2006/relationships/viewProps" Target="viewProps.xml" /><Relationship Id="rId17" Type="http://schemas.openxmlformats.org/officeDocument/2006/relationships/slide" Target="slides/slide16.xml" /><Relationship Id="rId20" Type="http://schemas.openxmlformats.org/officeDocument/2006/relationships/slide" Target="slides/slide19.xml" /><Relationship Id="rId16" Type="http://schemas.openxmlformats.org/officeDocument/2006/relationships/slide" Target="slides/slide15.xml" /><Relationship Id="rId18" Type="http://schemas.openxmlformats.org/officeDocument/2006/relationships/slide" Target="slides/slide17.xml" /><Relationship Id="rId24" Type="http://schemas.openxmlformats.org/officeDocument/2006/relationships/notesMaster" Target="notesMasters/notesMaster1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2" Type="http://schemas.openxmlformats.org/officeDocument/2006/relationships/slide" Target="slides/slide1.xml" /><Relationship Id="rId21" Type="http://schemas.openxmlformats.org/officeDocument/2006/relationships/slide" Target="slides/slide20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12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16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20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2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2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32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3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36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40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4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4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4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52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56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>
            <a:pPr/>
            <a:endParaRPr/>
          </a:p>
        </p:txBody>
      </p:sp>
      <p:sp>
        <p:nvSpPr>
          <p:cNvPr id="5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60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6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6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1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72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5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76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9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80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3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8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true" noRot="true" noChangeAspect="true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87" name="Notes Placeholder 2"/>
          <p:cNvSpPr>
            <a:spLocks noGrp="true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false"/>
          </a:p>
        </p:txBody>
      </p:sp>
      <p:sp>
        <p:nvSpPr>
          <p:cNvPr id="88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 /><Relationship Id="rId0" Type="http://schemas.openxmlformats.org/officeDocument/2006/relationships/slideLayout" Target="../slideLayouts/slideLayout2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false" hdr="false" ftr="false" dt="false"/>
  <p:txStyles>
    <p:titleStyle>
      <a:lvl1pPr algn="ctr" defTabSz="9144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0"/>
  </p:sldLayoutIdLst>
  <p:hf sldNum="false" hdr="false" ftr="false" dt="false"/>
  <p:txStyles>
    <p:titleStyle>
      <a:lvl1pPr algn="ctr" defTabSz="9144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false" eaLnBrk="true" latinLnBrk="false" hangingPunct="true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false" eaLnBrk="true" latinLnBrk="false" hangingPunct="true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false" eaLnBrk="true" latinLnBrk="false" hangingPunct="true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9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8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media/image4.png" /><Relationship Id="rId2" Type="http://schemas.openxmlformats.org/officeDocument/2006/relationships/image" Target="media/image3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5.xml" /></Relationships>
</file>

<file path=ppt/slides/_rels/slide14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6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7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8.xml" 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image" Target="media/image8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9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164" name="Shape 1"/>
          <p:cNvSpPr/>
          <p:nvPr/>
        </p:nvSpPr>
        <p:spPr>
          <a:xfrm>
            <a:off x="1097280" y="1097280"/>
            <a:ext cx="73152" cy="237744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165" name="Text 2"/>
          <p:cNvSpPr/>
          <p:nvPr/>
        </p:nvSpPr>
        <p:spPr>
          <a:xfrm>
            <a:off x="1463040" y="128016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3800" b="true" kern="0" spc="2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ZKP-PQC-PLS 融合架构</a:t>
            </a:r>
            <a:endParaRPr lang="en-US" sz="3800" dirty="false"/>
          </a:p>
        </p:txBody>
      </p:sp>
      <p:sp>
        <p:nvSpPr>
          <p:cNvPr id="166" name="Text 3"/>
          <p:cNvSpPr/>
          <p:nvPr/>
        </p:nvSpPr>
        <p:spPr>
          <a:xfrm>
            <a:off x="1463040" y="2011680"/>
            <a:ext cx="6400800" cy="5486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kern="0" spc="150" dirty="false">
                <a:solidFill>
                  <a:srgbClr val="58A6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创新型 IoV 安全认证系统</a:t>
            </a:r>
            <a:endParaRPr lang="en-US" sz="2800" dirty="false"/>
          </a:p>
        </p:txBody>
      </p:sp>
      <p:sp>
        <p:nvSpPr>
          <p:cNvPr id="167" name="Text 4"/>
          <p:cNvSpPr/>
          <p:nvPr/>
        </p:nvSpPr>
        <p:spPr>
          <a:xfrm>
            <a:off x="1463040" y="283464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6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身份认证与访问控制 — 课程小组作业汇报</a:t>
            </a:r>
            <a:endParaRPr lang="en-US" sz="1600" dirty="false"/>
          </a:p>
        </p:txBody>
      </p:sp>
      <p:sp>
        <p:nvSpPr>
          <p:cNvPr id="168" name="Text 5"/>
          <p:cNvSpPr/>
          <p:nvPr/>
        </p:nvSpPr>
        <p:spPr>
          <a:xfrm>
            <a:off x="1463040" y="33375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i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零知识验证 · 后量子密码 · 物理层安全</a:t>
            </a:r>
            <a:endParaRPr lang="en-US" sz="1300" dirty="false"/>
          </a:p>
        </p:txBody>
      </p:sp>
      <p:sp>
        <p:nvSpPr>
          <p:cNvPr id="16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170" name="Text 4"/>
          <p:cNvSpPr/>
          <p:nvPr/>
        </p:nvSpPr>
        <p:spPr>
          <a:xfrm rot="0" flipH="false" flipV="false">
            <a:off x="1463040" y="365760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sz="11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GitHub:github.com/arriverl/iov_zkp_pqc_pls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2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 rot="0" flipH="false" flipV="false">
            <a:off x="457200" y="236976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249" name="Text 1"/>
          <p:cNvSpPr/>
          <p:nvPr/>
        </p:nvSpPr>
        <p:spPr>
          <a:xfrm rot="0" flipH="false" flipV="false">
            <a:off x="658368" y="236976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汇报大纲</a:t>
            </a:r>
            <a:endParaRPr lang="en-US" sz="2800" dirty="false"/>
          </a:p>
        </p:txBody>
      </p:sp>
      <p:sp>
        <p:nvSpPr>
          <p:cNvPr id="250" name="Text 2"/>
          <p:cNvSpPr/>
          <p:nvPr/>
        </p:nvSpPr>
        <p:spPr>
          <a:xfrm rot="0" flipH="false" flipV="false">
            <a:off x="658368" y="785616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300" dirty="false"/>
          </a:p>
        </p:txBody>
      </p:sp>
      <p:sp>
        <p:nvSpPr>
          <p:cNvPr id="251" name="Shape 3"/>
          <p:cNvSpPr/>
          <p:nvPr/>
        </p:nvSpPr>
        <p:spPr>
          <a:xfrm rot="0" flipH="false" flipV="false">
            <a:off x="658368" y="1151376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252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false"/>
          </a:p>
        </p:txBody>
      </p:sp>
      <p:sp>
        <p:nvSpPr>
          <p:cNvPr id="253" name="Shape 5"/>
          <p:cNvSpPr/>
          <p:nvPr/>
        </p:nvSpPr>
        <p:spPr>
          <a:xfrm rot="0" flipH="false" flipV="false">
            <a:off x="731520" y="1288536"/>
            <a:ext cx="347472" cy="347472"/>
          </a:xfrm>
          <a:prstGeom prst="ellipse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254" name="Text 6"/>
          <p:cNvSpPr/>
          <p:nvPr/>
        </p:nvSpPr>
        <p:spPr>
          <a:xfrm rot="0" flipH="false" flipV="false">
            <a:off x="731520" y="12885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200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200" dirty="false"/>
          </a:p>
        </p:txBody>
      </p:sp>
      <p:sp>
        <p:nvSpPr>
          <p:cNvPr id="255" name="Text 7"/>
          <p:cNvSpPr/>
          <p:nvPr/>
        </p:nvSpPr>
        <p:spPr>
          <a:xfrm rot="0" flipH="false" flipV="false">
            <a:off x="1234440" y="126110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项目背景与动机</a:t>
            </a:r>
            <a:endParaRPr lang="en-US" sz="1500" dirty="false"/>
          </a:p>
        </p:txBody>
      </p:sp>
      <p:sp>
        <p:nvSpPr>
          <p:cNvPr id="256" name="Text 8"/>
          <p:cNvSpPr/>
          <p:nvPr/>
        </p:nvSpPr>
        <p:spPr>
          <a:xfrm rot="0" flipH="false" flipV="false">
            <a:off x="1234440" y="149884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IoV 安全挑战、量子威胁、隐私需求</a:t>
            </a:r>
            <a:endParaRPr lang="en-US" sz="1100" dirty="false"/>
          </a:p>
        </p:txBody>
      </p:sp>
      <p:sp>
        <p:nvSpPr>
          <p:cNvPr id="257" name="Shape 9"/>
          <p:cNvSpPr/>
          <p:nvPr/>
        </p:nvSpPr>
        <p:spPr>
          <a:xfrm rot="0" flipH="false" flipV="false">
            <a:off x="1234440" y="1718304"/>
            <a:ext cx="5029200" cy="7314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258" name="Shape 10"/>
          <p:cNvSpPr/>
          <p:nvPr/>
        </p:nvSpPr>
        <p:spPr>
          <a:xfrm rot="0" flipH="false" flipV="false">
            <a:off x="731520" y="1764024"/>
            <a:ext cx="347472" cy="347472"/>
          </a:xfrm>
          <a:prstGeom prst="ellipse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259" name="Text 11"/>
          <p:cNvSpPr/>
          <p:nvPr/>
        </p:nvSpPr>
        <p:spPr>
          <a:xfrm rot="0" flipH="false" flipV="false">
            <a:off x="731520" y="17640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200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false"/>
          </a:p>
        </p:txBody>
      </p:sp>
      <p:sp>
        <p:nvSpPr>
          <p:cNvPr id="260" name="Text 12"/>
          <p:cNvSpPr/>
          <p:nvPr/>
        </p:nvSpPr>
        <p:spPr>
          <a:xfrm rot="0" flipH="false" flipV="false">
            <a:off x="1234440" y="17365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技术演进与现有方案分析</a:t>
            </a:r>
            <a:endParaRPr lang="en-US" sz="1500" dirty="false"/>
          </a:p>
        </p:txBody>
      </p:sp>
      <p:sp>
        <p:nvSpPr>
          <p:cNvPr id="261" name="Text 13"/>
          <p:cNvSpPr/>
          <p:nvPr/>
        </p:nvSpPr>
        <p:spPr>
          <a:xfrm rot="0" flipH="false" flipV="false">
            <a:off x="1234440" y="197433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Yang et al. 与改进方案的局限</a:t>
            </a:r>
            <a:endParaRPr lang="en-US" sz="1100" dirty="false"/>
          </a:p>
        </p:txBody>
      </p:sp>
      <p:sp>
        <p:nvSpPr>
          <p:cNvPr id="262" name="Shape 14"/>
          <p:cNvSpPr/>
          <p:nvPr/>
        </p:nvSpPr>
        <p:spPr>
          <a:xfrm rot="0" flipH="false" flipV="false">
            <a:off x="1234440" y="2193792"/>
            <a:ext cx="5029200" cy="7314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263" name="Shape 15"/>
          <p:cNvSpPr/>
          <p:nvPr/>
        </p:nvSpPr>
        <p:spPr>
          <a:xfrm rot="0" flipH="false" flipV="false">
            <a:off x="731520" y="2239512"/>
            <a:ext cx="347472" cy="347472"/>
          </a:xfrm>
          <a:prstGeom prst="ellipse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264" name="Text 16"/>
          <p:cNvSpPr/>
          <p:nvPr/>
        </p:nvSpPr>
        <p:spPr>
          <a:xfrm rot="0" flipH="false" flipV="false">
            <a:off x="731520" y="223951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200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200" dirty="false"/>
          </a:p>
        </p:txBody>
      </p:sp>
      <p:sp>
        <p:nvSpPr>
          <p:cNvPr id="265" name="Text 17"/>
          <p:cNvSpPr/>
          <p:nvPr/>
        </p:nvSpPr>
        <p:spPr>
          <a:xfrm rot="0" flipH="false" flipV="false">
            <a:off x="1234440" y="2212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核心方案：三支柱融合架构</a:t>
            </a:r>
            <a:endParaRPr lang="en-US" sz="1500" dirty="false"/>
          </a:p>
        </p:txBody>
      </p:sp>
      <p:sp>
        <p:nvSpPr>
          <p:cNvPr id="266" name="Text 18"/>
          <p:cNvSpPr/>
          <p:nvPr/>
        </p:nvSpPr>
        <p:spPr>
          <a:xfrm rot="0" flipH="false" flipV="false">
            <a:off x="1234440" y="2449824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PQC + ZKP + PLS 协同设计</a:t>
            </a:r>
            <a:endParaRPr lang="en-US" sz="1100" dirty="false"/>
          </a:p>
        </p:txBody>
      </p:sp>
      <p:sp>
        <p:nvSpPr>
          <p:cNvPr id="267" name="Shape 19"/>
          <p:cNvSpPr/>
          <p:nvPr/>
        </p:nvSpPr>
        <p:spPr>
          <a:xfrm rot="0" flipH="false" flipV="false">
            <a:off x="1234440" y="2669280"/>
            <a:ext cx="5029200" cy="7314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268" name="Shape 20"/>
          <p:cNvSpPr/>
          <p:nvPr/>
        </p:nvSpPr>
        <p:spPr>
          <a:xfrm rot="0" flipH="false" flipV="false">
            <a:off x="731520" y="2715000"/>
            <a:ext cx="347472" cy="347472"/>
          </a:xfrm>
          <a:prstGeom prst="ellipse">
            <a:avLst/>
          </a:prstGeom>
          <a:solidFill>
            <a:srgbClr val="1C2333"/>
          </a:solidFill>
        </p:spPr>
        <p:txBody>
          <a:bodyPr/>
          <a:p/>
        </p:txBody>
      </p:sp>
      <p:sp>
        <p:nvSpPr>
          <p:cNvPr id="269" name="Text 21"/>
          <p:cNvSpPr/>
          <p:nvPr/>
        </p:nvSpPr>
        <p:spPr>
          <a:xfrm rot="0" flipH="false" flipV="false">
            <a:off x="731520" y="27150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200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false"/>
          </a:p>
        </p:txBody>
      </p:sp>
      <p:sp>
        <p:nvSpPr>
          <p:cNvPr id="270" name="Text 22"/>
          <p:cNvSpPr/>
          <p:nvPr/>
        </p:nvSpPr>
        <p:spPr>
          <a:xfrm rot="0" flipH="false" flipV="false">
            <a:off x="1234440" y="268756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关键技术详解</a:t>
            </a:r>
            <a:endParaRPr lang="en-US" sz="1500" dirty="false"/>
          </a:p>
        </p:txBody>
      </p:sp>
      <p:sp>
        <p:nvSpPr>
          <p:cNvPr id="271" name="Text 23"/>
          <p:cNvSpPr/>
          <p:nvPr/>
        </p:nvSpPr>
        <p:spPr>
          <a:xfrm rot="0" flipH="false" flipV="false">
            <a:off x="1234440" y="2925312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后量子签名、零知识证明、CSI 指纹</a:t>
            </a:r>
            <a:endParaRPr lang="en-US" sz="1100" dirty="false"/>
          </a:p>
        </p:txBody>
      </p:sp>
      <p:sp>
        <p:nvSpPr>
          <p:cNvPr id="272" name="Shape 24"/>
          <p:cNvSpPr/>
          <p:nvPr/>
        </p:nvSpPr>
        <p:spPr>
          <a:xfrm rot="0" flipH="false" flipV="false">
            <a:off x="1234440" y="3144768"/>
            <a:ext cx="5029200" cy="7314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273" name="Shape 25"/>
          <p:cNvSpPr/>
          <p:nvPr/>
        </p:nvSpPr>
        <p:spPr>
          <a:xfrm rot="0" flipH="false" flipV="false">
            <a:off x="731520" y="3190488"/>
            <a:ext cx="347472" cy="347472"/>
          </a:xfrm>
          <a:prstGeom prst="ellipse">
            <a:avLst/>
          </a:prstGeom>
          <a:solidFill>
            <a:srgbClr val="1C2333"/>
          </a:solidFill>
        </p:spPr>
        <p:txBody>
          <a:bodyPr/>
          <a:p/>
        </p:txBody>
      </p:sp>
      <p:sp>
        <p:nvSpPr>
          <p:cNvPr id="274" name="Text 26"/>
          <p:cNvSpPr/>
          <p:nvPr/>
        </p:nvSpPr>
        <p:spPr>
          <a:xfrm rot="0" flipH="false" flipV="false">
            <a:off x="731520" y="319048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200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200" dirty="false"/>
          </a:p>
        </p:txBody>
      </p:sp>
      <p:sp>
        <p:nvSpPr>
          <p:cNvPr id="275" name="Text 27"/>
          <p:cNvSpPr/>
          <p:nvPr/>
        </p:nvSpPr>
        <p:spPr>
          <a:xfrm rot="0" flipH="false" flipV="false">
            <a:off x="1234440" y="316305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协议设计与安全机制</a:t>
            </a:r>
            <a:endParaRPr lang="en-US" sz="1500" dirty="false"/>
          </a:p>
        </p:txBody>
      </p:sp>
      <p:sp>
        <p:nvSpPr>
          <p:cNvPr id="276" name="Text 28"/>
          <p:cNvSpPr/>
          <p:nvPr/>
        </p:nvSpPr>
        <p:spPr>
          <a:xfrm rot="0" flipH="false" flipV="false">
            <a:off x="1234440" y="3400800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融合协议流程与会话绑定</a:t>
            </a:r>
            <a:endParaRPr lang="en-US" sz="1100" dirty="false"/>
          </a:p>
        </p:txBody>
      </p:sp>
      <p:sp>
        <p:nvSpPr>
          <p:cNvPr id="277" name="Shape 29"/>
          <p:cNvSpPr/>
          <p:nvPr/>
        </p:nvSpPr>
        <p:spPr>
          <a:xfrm rot="0" flipH="false" flipV="false">
            <a:off x="1234440" y="3620256"/>
            <a:ext cx="5029200" cy="7314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278" name="Shape 30"/>
          <p:cNvSpPr/>
          <p:nvPr/>
        </p:nvSpPr>
        <p:spPr>
          <a:xfrm rot="0" flipH="false" flipV="false">
            <a:off x="731520" y="3665976"/>
            <a:ext cx="347472" cy="347472"/>
          </a:xfrm>
          <a:prstGeom prst="ellipse">
            <a:avLst/>
          </a:prstGeom>
          <a:solidFill>
            <a:srgbClr val="1C2333"/>
          </a:solidFill>
        </p:spPr>
        <p:txBody>
          <a:bodyPr/>
          <a:p/>
        </p:txBody>
      </p:sp>
      <p:sp>
        <p:nvSpPr>
          <p:cNvPr id="279" name="Text 31"/>
          <p:cNvSpPr/>
          <p:nvPr/>
        </p:nvSpPr>
        <p:spPr>
          <a:xfrm rot="0" flipH="false" flipV="false">
            <a:off x="731520" y="366597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200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200" dirty="false"/>
          </a:p>
        </p:txBody>
      </p:sp>
      <p:sp>
        <p:nvSpPr>
          <p:cNvPr id="280" name="Text 32"/>
          <p:cNvSpPr/>
          <p:nvPr/>
        </p:nvSpPr>
        <p:spPr>
          <a:xfrm rot="0" flipH="false" flipV="false">
            <a:off x="1234440" y="363854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en-US" sz="1500" b="true">
                <a:solidFill>
                  <a:srgbClr val="F0F6F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实验评估</a:t>
            </a:r>
            <a:r>
              <a:rPr lang="zh-CN" sz="1500" b="true">
                <a:solidFill>
                  <a:srgbClr val="F0F6F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与攻击仿真</a:t>
            </a:r>
            <a:endParaRPr/>
          </a:p>
        </p:txBody>
      </p:sp>
      <p:sp>
        <p:nvSpPr>
          <p:cNvPr id="281" name="Text 33"/>
          <p:cNvSpPr/>
          <p:nvPr/>
        </p:nvSpPr>
        <p:spPr>
          <a:xfrm rot="0" flipH="false" flipV="false">
            <a:off x="1234440" y="3876288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五组实验、性能、安全性、消融分析</a:t>
            </a:r>
            <a:r>
              <a:rPr lang="zh-CN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、攻击</a:t>
            </a:r>
            <a:endParaRPr/>
          </a:p>
        </p:txBody>
      </p:sp>
      <p:sp>
        <p:nvSpPr>
          <p:cNvPr id="282" name="Shape 34"/>
          <p:cNvSpPr/>
          <p:nvPr/>
        </p:nvSpPr>
        <p:spPr>
          <a:xfrm rot="0" flipH="false" flipV="false">
            <a:off x="1234440" y="4095744"/>
            <a:ext cx="5029200" cy="7314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283" name="Shape 35"/>
          <p:cNvSpPr/>
          <p:nvPr/>
        </p:nvSpPr>
        <p:spPr>
          <a:xfrm rot="0" flipH="false" flipV="false">
            <a:off x="731520" y="4141464"/>
            <a:ext cx="347472" cy="347472"/>
          </a:xfrm>
          <a:prstGeom prst="ellipse">
            <a:avLst/>
          </a:prstGeom>
          <a:solidFill>
            <a:srgbClr val="1C2333"/>
          </a:solidFill>
        </p:spPr>
        <p:txBody>
          <a:bodyPr/>
          <a:p/>
        </p:txBody>
      </p:sp>
      <p:sp>
        <p:nvSpPr>
          <p:cNvPr id="284" name="Text 36"/>
          <p:cNvSpPr/>
          <p:nvPr/>
        </p:nvSpPr>
        <p:spPr>
          <a:xfrm rot="0" flipH="false" flipV="false">
            <a:off x="731520" y="41414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200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200" dirty="false"/>
          </a:p>
        </p:txBody>
      </p:sp>
      <p:sp>
        <p:nvSpPr>
          <p:cNvPr id="285" name="Text 37"/>
          <p:cNvSpPr/>
          <p:nvPr/>
        </p:nvSpPr>
        <p:spPr>
          <a:xfrm rot="0" flipH="false" flipV="false">
            <a:off x="1234440" y="411403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zh-CN" sz="1500" b="true">
                <a:solidFill>
                  <a:srgbClr val="F0F6F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相关工作与</a:t>
            </a:r>
            <a:r>
              <a:rPr lang="en-US" sz="1500" b="true">
                <a:solidFill>
                  <a:srgbClr val="F0F6F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2026</a:t>
            </a:r>
            <a:r>
              <a:rPr lang="zh-CN" sz="1500" b="true">
                <a:solidFill>
                  <a:srgbClr val="F0F6F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竞品对比</a:t>
            </a:r>
            <a:endParaRPr/>
          </a:p>
        </p:txBody>
      </p:sp>
      <p:sp>
        <p:nvSpPr>
          <p:cNvPr id="286" name="Text 38"/>
          <p:cNvSpPr/>
          <p:nvPr/>
        </p:nvSpPr>
        <p:spPr>
          <a:xfrm rot="0" flipH="false" flipV="false">
            <a:off x="1234440" y="4351776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PD-TDAA</a:t>
            </a:r>
            <a:r>
              <a:rPr lang="zh-CN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Hermes' Seal 等同族方案</a:t>
            </a:r>
            <a:endParaRPr/>
          </a:p>
        </p:txBody>
      </p:sp>
      <p:sp>
        <p:nvSpPr>
          <p:cNvPr id="287" name="Shape 35"/>
          <p:cNvSpPr/>
          <p:nvPr/>
        </p:nvSpPr>
        <p:spPr>
          <a:xfrm rot="0" flipH="false" flipV="false">
            <a:off x="731520" y="4612380"/>
            <a:ext cx="347472" cy="347472"/>
          </a:xfrm>
          <a:prstGeom prst="ellipse">
            <a:avLst/>
          </a:prstGeom>
          <a:solidFill>
            <a:srgbClr val="1C2333"/>
          </a:solidFill>
        </p:spPr>
        <p:txBody>
          <a:bodyPr/>
          <a:p>
            <a:pPr/>
            <a:endParaRPr/>
          </a:p>
        </p:txBody>
      </p:sp>
      <p:sp>
        <p:nvSpPr>
          <p:cNvPr id="288" name="Text 36"/>
          <p:cNvSpPr/>
          <p:nvPr/>
        </p:nvSpPr>
        <p:spPr>
          <a:xfrm rot="0" flipH="false" flipV="false">
            <a:off x="731520" y="46169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 algn="ctr">
              <a:buNone/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08</a:t>
            </a:r>
            <a:endParaRPr/>
          </a:p>
        </p:txBody>
      </p:sp>
      <p:sp>
        <p:nvSpPr>
          <p:cNvPr id="289" name="Text 37"/>
          <p:cNvSpPr/>
          <p:nvPr/>
        </p:nvSpPr>
        <p:spPr>
          <a:xfrm rot="0" flipH="false" flipV="false">
            <a:off x="1234440" y="455294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zh-CN" sz="1500" b="true">
                <a:solidFill>
                  <a:srgbClr val="F0F6FC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实现边界与总结展望</a:t>
            </a:r>
            <a:endParaRPr lang="en-US" sz="1500"/>
          </a:p>
        </p:txBody>
      </p:sp>
      <p:sp>
        <p:nvSpPr>
          <p:cNvPr id="290" name="Text 38"/>
          <p:cNvSpPr/>
          <p:nvPr/>
        </p:nvSpPr>
        <p:spPr>
          <a:xfrm rot="0" flipH="false" flipV="false">
            <a:off x="1234440" y="4801662"/>
            <a:ext cx="5029200" cy="20116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zh-CN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诚实声明</a:t>
            </a: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、路线图、未来工作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293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项目背景与动机</a:t>
            </a:r>
            <a:endParaRPr lang="en-US" sz="2800" dirty="false"/>
          </a:p>
        </p:txBody>
      </p:sp>
      <p:sp>
        <p:nvSpPr>
          <p:cNvPr id="294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Why ZKP-PQC-PLS?</a:t>
            </a:r>
            <a:endParaRPr lang="en-US" sz="1300" dirty="false"/>
          </a:p>
        </p:txBody>
      </p:sp>
      <p:sp>
        <p:nvSpPr>
          <p:cNvPr id="295" name="Shape 3"/>
          <p:cNvSpPr/>
          <p:nvPr/>
        </p:nvSpPr>
        <p:spPr>
          <a:xfrm>
            <a:off x="658368" y="1703070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296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false"/>
          </a:p>
        </p:txBody>
      </p:sp>
      <p:sp>
        <p:nvSpPr>
          <p:cNvPr id="297" name="Shape 5"/>
          <p:cNvSpPr/>
          <p:nvPr/>
        </p:nvSpPr>
        <p:spPr>
          <a:xfrm>
            <a:off x="457200" y="161163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298" name="Shape 6"/>
          <p:cNvSpPr/>
          <p:nvPr/>
        </p:nvSpPr>
        <p:spPr>
          <a:xfrm>
            <a:off x="457200" y="1611630"/>
            <a:ext cx="2468880" cy="45720"/>
          </a:xfrm>
          <a:prstGeom prst="rect">
            <a:avLst/>
          </a:prstGeom>
          <a:solidFill>
            <a:srgbClr val="F78166"/>
          </a:solidFill>
        </p:spPr>
        <p:txBody>
          <a:bodyPr/>
          <a:p/>
        </p:txBody>
      </p:sp>
      <p:sp>
        <p:nvSpPr>
          <p:cNvPr id="299" name="Text 7"/>
          <p:cNvSpPr/>
          <p:nvPr/>
        </p:nvSpPr>
        <p:spPr>
          <a:xfrm>
            <a:off x="594360" y="179451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700" b="true" dirty="false">
                <a:solidFill>
                  <a:srgbClr val="F781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⚛ 量子威胁</a:t>
            </a:r>
            <a:endParaRPr lang="en-US" sz="1700" dirty="false"/>
          </a:p>
        </p:txBody>
      </p:sp>
      <p:sp>
        <p:nvSpPr>
          <p:cNvPr id="300" name="Text 8"/>
          <p:cNvSpPr/>
          <p:nvPr/>
        </p:nvSpPr>
        <p:spPr>
          <a:xfrm rot="0" flipH="false" flipV="false">
            <a:off x="376646" y="2237994"/>
            <a:ext cx="2194560" cy="160020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 fontScale="100000" lnSpcReduction="10000"/>
          </a:bodyPr>
          <a:lstStyle/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Shor 算法可攻破 RSA/ECC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Harvest-now-decrypt-later：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长期证书面临存储攻击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NIST FIPS 204 已标准化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ML-DSA (2024.8 发布)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IoV PKI 须紧急迁移至 PQC</a:t>
            </a:r>
            <a:endParaRPr/>
          </a:p>
        </p:txBody>
      </p:sp>
      <p:sp>
        <p:nvSpPr>
          <p:cNvPr id="301" name="Shape 9"/>
          <p:cNvSpPr/>
          <p:nvPr/>
        </p:nvSpPr>
        <p:spPr>
          <a:xfrm>
            <a:off x="3337560" y="161163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302" name="Shape 10"/>
          <p:cNvSpPr/>
          <p:nvPr/>
        </p:nvSpPr>
        <p:spPr>
          <a:xfrm>
            <a:off x="3337560" y="1611630"/>
            <a:ext cx="2468880" cy="4572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303" name="Text 11"/>
          <p:cNvSpPr/>
          <p:nvPr/>
        </p:nvSpPr>
        <p:spPr>
          <a:xfrm>
            <a:off x="3474720" y="179451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7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🔒 隐私需求</a:t>
            </a:r>
            <a:endParaRPr lang="en-US" sz="1700" dirty="false"/>
          </a:p>
        </p:txBody>
      </p:sp>
      <p:sp>
        <p:nvSpPr>
          <p:cNvPr id="304" name="Text 12"/>
          <p:cNvSpPr/>
          <p:nvPr/>
        </p:nvSpPr>
        <p:spPr>
          <a:xfrm rot="0" flipH="false" flipV="false">
            <a:off x="3474720" y="2237994"/>
            <a:ext cx="2194560" cy="160020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/>
          </a:bodyPr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车辆身份需强匿名与不可追踪</a:t>
            </a:r>
            <a:endParaRPr lang="en-US" sz="11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假名管理存在单点泄露风险</a:t>
            </a:r>
            <a:endParaRPr lang="en-US" sz="11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轨迹关联可暴露驾驶行为隐私</a:t>
            </a:r>
            <a:endParaRPr lang="en-US" sz="11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ZKP 提供最小信息披露认证</a:t>
            </a:r>
            <a:endParaRPr lang="en-US" sz="1100" dirty="false"/>
          </a:p>
        </p:txBody>
      </p:sp>
      <p:sp>
        <p:nvSpPr>
          <p:cNvPr id="305" name="Shape 13"/>
          <p:cNvSpPr/>
          <p:nvPr/>
        </p:nvSpPr>
        <p:spPr>
          <a:xfrm>
            <a:off x="6217920" y="1611630"/>
            <a:ext cx="2468880" cy="2377440"/>
          </a:xfrm>
          <a:prstGeom prst="roundRect">
            <a:avLst>
              <a:gd name="adj" fmla="val 3077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306" name="Shape 14"/>
          <p:cNvSpPr/>
          <p:nvPr/>
        </p:nvSpPr>
        <p:spPr>
          <a:xfrm>
            <a:off x="6217920" y="1611630"/>
            <a:ext cx="2468880" cy="45720"/>
          </a:xfrm>
          <a:prstGeom prst="rect">
            <a:avLst/>
          </a:prstGeom>
          <a:solidFill>
            <a:srgbClr val="3FB950"/>
          </a:solidFill>
        </p:spPr>
        <p:txBody>
          <a:bodyPr/>
          <a:p/>
        </p:txBody>
      </p:sp>
      <p:sp>
        <p:nvSpPr>
          <p:cNvPr id="307" name="Text 15"/>
          <p:cNvSpPr/>
          <p:nvPr/>
        </p:nvSpPr>
        <p:spPr>
          <a:xfrm>
            <a:off x="6355080" y="179451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700" b="true" dirty="false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📡 物理层防御</a:t>
            </a:r>
            <a:endParaRPr lang="en-US" sz="1700" dirty="false"/>
          </a:p>
        </p:txBody>
      </p:sp>
      <p:sp>
        <p:nvSpPr>
          <p:cNvPr id="308" name="Text 16"/>
          <p:cNvSpPr/>
          <p:nvPr/>
        </p:nvSpPr>
        <p:spPr>
          <a:xfrm>
            <a:off x="6355080" y="2251710"/>
            <a:ext cx="2194560" cy="160020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 fontScale="92500"/>
          </a:bodyPr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仅数字证书无法防窃取+远程冒充</a:t>
            </a:r>
            <a:endParaRPr lang="en-US" sz="11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物理信道指纹具有空间唯一性</a:t>
            </a:r>
            <a:endParaRPr lang="en-US" sz="11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CSI 提供不可转移的第二因子</a:t>
            </a:r>
            <a:endParaRPr lang="en-US" sz="11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多径特性绑定物理位置与信道</a:t>
            </a:r>
            <a:endParaRPr lang="en-US" sz="1100" dirty="false"/>
          </a:p>
        </p:txBody>
      </p:sp>
      <p:sp>
        <p:nvSpPr>
          <p:cNvPr id="309" name=""/>
          <p:cNvSpPr txBox="true"/>
          <p:nvPr/>
        </p:nvSpPr>
        <p:spPr>
          <a:xfrm rot="0" flipH="false" flipV="false">
            <a:off x="376646" y="4137660"/>
            <a:ext cx="5689600" cy="2286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sz="900" i="true">
                <a:solidFill>
                  <a:srgbClr val="E55353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* 隐私说明：本方案 ZKP 实现基于 Sigma 骨架，提供"不直接传 sk"的隐私层，与完整匿名凭证体系尚有距离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16="http://schemas.microsoft.com/office/drawing/2014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mc:Ignorable="a16">
  <p:cSld>
    <p:bg>
      <p:bgPr>
        <a:solidFill>
          <a:srgbClr val="0D1117"/>
        </a:solidFill>
        <a:effectLst/>
      </p:bgPr>
    </p:bg>
    <p:spTree>
      <p:nvGrpSpPr>
        <p:cNvPr id="3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312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技术演进与现有方案局限性</a:t>
            </a:r>
            <a:endParaRPr lang="en-US" sz="2800" dirty="false"/>
          </a:p>
        </p:txBody>
      </p:sp>
      <p:sp>
        <p:nvSpPr>
          <p:cNvPr id="313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Existing Approaches &amp; Their Limits</a:t>
            </a:r>
            <a:endParaRPr lang="en-US" sz="1300" dirty="false"/>
          </a:p>
        </p:txBody>
      </p:sp>
      <p:sp>
        <p:nvSpPr>
          <p:cNvPr id="314" name="Shape 3"/>
          <p:cNvSpPr/>
          <p:nvPr/>
        </p:nvSpPr>
        <p:spPr>
          <a:xfrm>
            <a:off x="658368" y="1325880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315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false"/>
          </a:p>
        </p:txBody>
      </p:sp>
      <p:graphicFrame>
        <p:nvGraphicFramePr>
          <p:cNvPr id="316" name="Table 0"/>
          <p:cNvGraphicFramePr/>
          <p:nvPr/>
        </p:nvGraphicFramePr>
        <p:xfrm rot="0" flipH="false" flipV="false">
          <a:off x="457200" y="1487043"/>
          <a:ext cx="8229600" cy="1993900"/>
        </p:xfrm>
        <a:graphic>
          <a:graphicData uri="http://schemas.openxmlformats.org/drawingml/2006/table">
            <a:tbl>
              <a:tblPr/>
              <a:tblGrid>
                <a:gridCol w="1663700">
                  <a:extLst>
                    <a:ext uri="{9D8B030D-6E8A-4147-A177-3AD203B41FA5}">
                      <a16:colId val="1"/>
                    </a:ext>
                  </a:extLst>
                </a:gridCol>
                <a:gridCol w="914400">
                  <a:extLst>
                    <a:ext uri="{9D8B030D-6E8A-4147-A177-3AD203B41FA5}">
                      <a16:colId val="2"/>
                    </a:ext>
                  </a:extLst>
                </a:gridCol>
                <a:gridCol w="1473200">
                  <a:extLst>
                    <a:ext uri="{9D8B030D-6E8A-4147-A177-3AD203B41FA5}">
                      <a16:colId val="3"/>
                    </a:ext>
                  </a:extLst>
                </a:gridCol>
                <a:gridCol w="1206500">
                  <a:extLst>
                    <a:ext uri="{9D8B030D-6E8A-4147-A177-3AD203B41FA5}">
                      <a16:colId val="4"/>
                    </a:ext>
                  </a:extLst>
                </a:gridCol>
                <a:gridCol w="1174750">
                  <a:extLst>
                    <a:ext uri="{9D8B030D-6E8A-4147-A177-3AD203B41FA5}">
                      <a16:colId val="5"/>
                    </a:ext>
                  </a:extLst>
                </a:gridCol>
                <a:gridCol w="1797050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true" dirty="false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方案</a:t>
                      </a:r>
                      <a:endParaRPr lang="en-US" sz="12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true" dirty="false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抗量子</a:t>
                      </a:r>
                      <a:endParaRPr lang="en-US" sz="12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true" dirty="false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隐私</a:t>
                      </a:r>
                      <a:endParaRPr lang="en-US" sz="12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true" dirty="false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物理层</a:t>
                      </a:r>
                      <a:endParaRPr lang="en-US" sz="12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sz="1200" b="true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可追溯</a:t>
                      </a:r>
                      <a:endParaRPr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true" dirty="false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主要问题</a:t>
                      </a:r>
                      <a:endParaRPr lang="en-US" sz="12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A6F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false">
                          <a:solidFill>
                            <a:srgbClr val="F781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Yang et al. (2023)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false">
                          <a:solidFill>
                            <a:srgbClr val="F781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 (ECC)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false">
                          <a:solidFill>
                            <a:srgbClr val="F781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弱 (XOR 泄露)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false">
                          <a:solidFill>
                            <a:srgbClr val="F781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sz="1100">
                          <a:solidFill>
                            <a:srgbClr val="F78166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</a:t>
                      </a:r>
                      <a:endParaRPr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false">
                          <a:solidFill>
                            <a:srgbClr val="8B949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量子攻击 + 隐私泄露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false">
                          <a:solidFill>
                            <a:srgbClr val="F088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改进方案 (ECDH+AES)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false">
                          <a:solidFill>
                            <a:srgbClr val="F088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 (ECDH)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false">
                          <a:solidFill>
                            <a:srgbClr val="F088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 (假名)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false">
                          <a:solidFill>
                            <a:srgbClr val="F088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✗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sz="1100">
                          <a:solidFill>
                            <a:srgbClr val="F0883E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</a:t>
                      </a:r>
                      <a:endParaRPr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false">
                          <a:solidFill>
                            <a:srgbClr val="8B949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非抗量子，依赖中心化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 defTabSz="914400" rtl="false" eaLnBrk="true" latinLnBrk="false" hangingPunct="true">
                        <a:buNone/>
                      </a:pPr>
                      <a:r>
                        <a:rPr lang="zh-CN" altLang="zh-CN" sz="1100" kern="1200" dirty="false">
                          <a:solidFill>
                            <a:srgbClr val="F088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PQ-TDAA (2026)</a:t>
                      </a:r>
                      <a:endParaRPr lang="en-US" sz="1100" kern="1200" dirty="false">
                        <a:solidFill>
                          <a:srgbClr val="F0883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hangingPunct="true">
                        <a:buNone/>
                      </a:pPr>
                      <a:r>
                        <a:rPr lang="zh-CN" sz="1100">
                          <a:solidFill>
                            <a:srgbClr val="F0883E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+mn-cs"/>
                        </a:rPr>
                        <a:t>✔</a:t>
                      </a:r>
                      <a:endParaRPr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hangingPunct="true">
                        <a:buNone/>
                      </a:pPr>
                      <a:r>
                        <a:rPr lang="zh-CN" sz="1100">
                          <a:solidFill>
                            <a:srgbClr val="F0883E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+mn-cs"/>
                        </a:rPr>
                        <a:t>✔</a:t>
                      </a:r>
                      <a:endParaRPr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false" eaLnBrk="true" latinLnBrk="false" hangingPunct="true">
                        <a:buNone/>
                      </a:pPr>
                      <a:r>
                        <a:rPr lang="zh-CN" altLang="zh-CN" sz="1100" kern="1200" dirty="false">
                          <a:solidFill>
                            <a:srgbClr val="F088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✗</a:t>
                      </a:r>
                      <a:endParaRPr lang="en-US" sz="1100" kern="1200" dirty="false">
                        <a:solidFill>
                          <a:srgbClr val="F0883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hangingPunct="true">
                        <a:buNone/>
                      </a:pPr>
                      <a:r>
                        <a:rPr lang="zh-CN" sz="1100">
                          <a:solidFill>
                            <a:srgbClr val="F0883E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+mn-cs"/>
                        </a:rPr>
                        <a:t>✔</a:t>
                      </a:r>
                      <a:endParaRPr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hangingPunct="true">
                        <a:buNone/>
                      </a:pPr>
                      <a:r>
                        <a:rPr lang="zh-CN" sz="1100">
                          <a:solidFill>
                            <a:srgbClr val="8B949E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 </a:t>
                      </a:r>
                      <a:r>
                        <a:rPr lang="en-US" sz="1100">
                          <a:solidFill>
                            <a:srgbClr val="8B949E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PLS</a:t>
                      </a:r>
                      <a:r>
                        <a:rPr lang="zh-CN" sz="1100">
                          <a:solidFill>
                            <a:srgbClr val="8B949E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物理防伪</a:t>
                      </a:r>
                      <a:endParaRPr/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true" dirty="false">
                          <a:solidFill>
                            <a:srgbClr val="3FB9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本方案 (ZKP-PQC-PLS)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false">
                          <a:solidFill>
                            <a:srgbClr val="3FB9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(格密码)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1100" dirty="false">
                          <a:solidFill>
                            <a:srgbClr val="3FB9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中高（</a:t>
                      </a:r>
                      <a:r>
                        <a:rPr lang="en-US" sz="1100" dirty="false">
                          <a:solidFill>
                            <a:srgbClr val="3FB9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Sigma </a:t>
                      </a:r>
                      <a:r>
                        <a:rPr lang="zh-CN" altLang="en-US" sz="1100" dirty="false">
                          <a:solidFill>
                            <a:srgbClr val="3FB9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骨架，可演进 </a:t>
                      </a:r>
                      <a:r>
                        <a:rPr lang="en-US" sz="1100" dirty="false">
                          <a:solidFill>
                            <a:srgbClr val="3FB9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SNARK）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false">
                          <a:solidFill>
                            <a:srgbClr val="3FB9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✓ (CSI)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false">
                        <a:solidFill>
                          <a:srgbClr val="3FB9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false">
                          <a:solidFill>
                            <a:srgbClr val="3FB9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三重融合保障</a:t>
                      </a:r>
                      <a:endParaRPr lang="en-US" sz="1100" dirty="false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20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pic>
        <p:nvPicPr>
          <p:cNvPr id="317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457200" y="3628390"/>
            <a:ext cx="8229600" cy="562186"/>
          </a:xfrm>
          <a:prstGeom prst="rect"/>
        </p:spPr>
      </p:pic>
      <p:sp>
        <p:nvSpPr>
          <p:cNvPr id="318" name=""/>
          <p:cNvSpPr txBox="true"/>
          <p:nvPr/>
        </p:nvSpPr>
        <p:spPr>
          <a:xfrm rot="0" flipH="false" flipV="false">
            <a:off x="457200" y="3961976"/>
            <a:ext cx="5524500" cy="22860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sz="9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攻击者能力：可窃听无线信道、可重放消息、可伪造证书（计算受限）、不可物理篡改OBU/RSU 硬件</a:t>
            </a:r>
            <a:endParaRPr/>
          </a:p>
        </p:txBody>
      </p:sp>
      <p:sp>
        <p:nvSpPr>
          <p:cNvPr id="319" name=""/>
          <p:cNvSpPr txBox="true"/>
          <p:nvPr/>
        </p:nvSpPr>
        <p:spPr>
          <a:xfrm rot="0" flipH="false" flipV="false">
            <a:off x="457200" y="3701626"/>
            <a:ext cx="1022350" cy="2603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sz="1100" b="true">
                <a:solidFill>
                  <a:srgbClr val="F78166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威胁模型说明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3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322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核心方案：三支柱融合架构</a:t>
            </a:r>
            <a:endParaRPr lang="en-US" sz="2800" dirty="false"/>
          </a:p>
        </p:txBody>
      </p:sp>
      <p:sp>
        <p:nvSpPr>
          <p:cNvPr id="323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ZKP-PQC-PLS Architecture Overview</a:t>
            </a:r>
            <a:endParaRPr lang="en-US" sz="1300" dirty="false"/>
          </a:p>
        </p:txBody>
      </p:sp>
      <p:sp>
        <p:nvSpPr>
          <p:cNvPr id="324" name="Shape 3"/>
          <p:cNvSpPr/>
          <p:nvPr/>
        </p:nvSpPr>
        <p:spPr>
          <a:xfrm>
            <a:off x="658368" y="1482139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325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false"/>
          </a:p>
        </p:txBody>
      </p:sp>
      <p:sp>
        <p:nvSpPr>
          <p:cNvPr id="326" name="Shape 5"/>
          <p:cNvSpPr/>
          <p:nvPr/>
        </p:nvSpPr>
        <p:spPr>
          <a:xfrm>
            <a:off x="457200" y="1390699"/>
            <a:ext cx="2468880" cy="2560320"/>
          </a:xfrm>
          <a:prstGeom prst="roundRect">
            <a:avLst>
              <a:gd name="adj" fmla="val 2963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327" name="Shape 6"/>
          <p:cNvSpPr/>
          <p:nvPr/>
        </p:nvSpPr>
        <p:spPr>
          <a:xfrm>
            <a:off x="457200" y="1390699"/>
            <a:ext cx="2468880" cy="54864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328" name="Text 7"/>
          <p:cNvSpPr/>
          <p:nvPr/>
        </p:nvSpPr>
        <p:spPr>
          <a:xfrm>
            <a:off x="594360" y="157357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2600" dirty="false">
                <a:solidFill>
                  <a:srgbClr val="000000"/>
                </a:solidFill>
              </a:rPr>
              <a:t>🔐</a:t>
            </a:r>
            <a:endParaRPr lang="en-US" sz="2600" dirty="false"/>
          </a:p>
        </p:txBody>
      </p:sp>
      <p:sp>
        <p:nvSpPr>
          <p:cNvPr id="329" name="Text 8"/>
          <p:cNvSpPr/>
          <p:nvPr/>
        </p:nvSpPr>
        <p:spPr>
          <a:xfrm>
            <a:off x="1097280" y="1591867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PQC</a:t>
            </a:r>
            <a:endParaRPr lang="en-US" sz="2200" dirty="false"/>
          </a:p>
        </p:txBody>
      </p:sp>
      <p:sp>
        <p:nvSpPr>
          <p:cNvPr id="330" name="Text 9"/>
          <p:cNvSpPr/>
          <p:nvPr/>
        </p:nvSpPr>
        <p:spPr>
          <a:xfrm>
            <a:off x="1097280" y="1847899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后量子格签名</a:t>
            </a:r>
            <a:endParaRPr lang="en-US" sz="1100" dirty="false"/>
          </a:p>
        </p:txBody>
      </p:sp>
      <p:sp>
        <p:nvSpPr>
          <p:cNvPr id="331" name="Shape 10"/>
          <p:cNvSpPr/>
          <p:nvPr/>
        </p:nvSpPr>
        <p:spPr>
          <a:xfrm>
            <a:off x="594360" y="2167939"/>
            <a:ext cx="2194560" cy="9144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332" name="Text 11"/>
          <p:cNvSpPr/>
          <p:nvPr/>
        </p:nvSpPr>
        <p:spPr>
          <a:xfrm rot="0" flipH="false" flipV="false">
            <a:off x="457200" y="2259379"/>
            <a:ext cx="2194560" cy="155448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 fontScale="100000"/>
          </a:bodyPr>
          <a:lstStyle/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Dilithium (ML-DSA FIPS 204)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基于 Module-LWE/M-SIS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格密码抗 Shor 算法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NIST 标准化后量子签名</a:t>
            </a:r>
            <a:endParaRPr/>
          </a:p>
        </p:txBody>
      </p:sp>
      <p:sp>
        <p:nvSpPr>
          <p:cNvPr id="333" name="Shape 12"/>
          <p:cNvSpPr/>
          <p:nvPr/>
        </p:nvSpPr>
        <p:spPr>
          <a:xfrm>
            <a:off x="3337560" y="1390699"/>
            <a:ext cx="2468880" cy="2560320"/>
          </a:xfrm>
          <a:prstGeom prst="roundRect">
            <a:avLst>
              <a:gd name="adj" fmla="val 2963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334" name="Shape 13"/>
          <p:cNvSpPr/>
          <p:nvPr/>
        </p:nvSpPr>
        <p:spPr>
          <a:xfrm>
            <a:off x="3337560" y="1390699"/>
            <a:ext cx="2468880" cy="54864"/>
          </a:xfrm>
          <a:prstGeom prst="rect">
            <a:avLst/>
          </a:prstGeom>
          <a:solidFill>
            <a:srgbClr val="BC8CFF"/>
          </a:solidFill>
        </p:spPr>
        <p:txBody>
          <a:bodyPr/>
          <a:p/>
        </p:txBody>
      </p:sp>
      <p:sp>
        <p:nvSpPr>
          <p:cNvPr id="335" name="Text 14"/>
          <p:cNvSpPr/>
          <p:nvPr/>
        </p:nvSpPr>
        <p:spPr>
          <a:xfrm>
            <a:off x="3474720" y="157357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2600" dirty="false">
                <a:solidFill>
                  <a:srgbClr val="000000"/>
                </a:solidFill>
              </a:rPr>
              <a:t>🛡</a:t>
            </a:r>
            <a:endParaRPr lang="en-US" sz="2600" dirty="false"/>
          </a:p>
        </p:txBody>
      </p:sp>
      <p:sp>
        <p:nvSpPr>
          <p:cNvPr id="336" name="Text 15"/>
          <p:cNvSpPr/>
          <p:nvPr/>
        </p:nvSpPr>
        <p:spPr>
          <a:xfrm>
            <a:off x="3977640" y="1591867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true" dirty="false">
                <a:solidFill>
                  <a:srgbClr val="BC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ZKP</a:t>
            </a:r>
            <a:endParaRPr lang="en-US" sz="2200" dirty="false"/>
          </a:p>
        </p:txBody>
      </p:sp>
      <p:sp>
        <p:nvSpPr>
          <p:cNvPr id="337" name="Text 16"/>
          <p:cNvSpPr/>
          <p:nvPr/>
        </p:nvSpPr>
        <p:spPr>
          <a:xfrm>
            <a:off x="3977640" y="1847899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零知识隐私认证</a:t>
            </a:r>
            <a:endParaRPr lang="en-US" sz="1100" dirty="false"/>
          </a:p>
        </p:txBody>
      </p:sp>
      <p:sp>
        <p:nvSpPr>
          <p:cNvPr id="338" name="Shape 17"/>
          <p:cNvSpPr/>
          <p:nvPr/>
        </p:nvSpPr>
        <p:spPr>
          <a:xfrm>
            <a:off x="3474720" y="2167939"/>
            <a:ext cx="2194560" cy="9144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339" name="Text 18"/>
          <p:cNvSpPr/>
          <p:nvPr/>
        </p:nvSpPr>
        <p:spPr>
          <a:xfrm>
            <a:off x="3474720" y="2259379"/>
            <a:ext cx="2194560" cy="155448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 fontScale="100000"/>
          </a:bodyPr>
          <a:lstStyle/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Fiat-Shamir 非交互 Sigma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离散对数知识证明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challenge = Hash(com,pk)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验证方不获得 sk</a:t>
            </a:r>
            <a:endParaRPr/>
          </a:p>
        </p:txBody>
      </p:sp>
      <p:sp>
        <p:nvSpPr>
          <p:cNvPr id="340" name="Shape 19"/>
          <p:cNvSpPr/>
          <p:nvPr/>
        </p:nvSpPr>
        <p:spPr>
          <a:xfrm>
            <a:off x="6217920" y="1390699"/>
            <a:ext cx="2468880" cy="2560320"/>
          </a:xfrm>
          <a:prstGeom prst="roundRect">
            <a:avLst>
              <a:gd name="adj" fmla="val 2963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341" name="Shape 20"/>
          <p:cNvSpPr/>
          <p:nvPr/>
        </p:nvSpPr>
        <p:spPr>
          <a:xfrm>
            <a:off x="6217920" y="1390699"/>
            <a:ext cx="2468880" cy="54864"/>
          </a:xfrm>
          <a:prstGeom prst="rect">
            <a:avLst/>
          </a:prstGeom>
          <a:solidFill>
            <a:srgbClr val="3FB950"/>
          </a:solidFill>
        </p:spPr>
        <p:txBody>
          <a:bodyPr/>
          <a:p/>
        </p:txBody>
      </p:sp>
      <p:sp>
        <p:nvSpPr>
          <p:cNvPr id="342" name="Text 21"/>
          <p:cNvSpPr/>
          <p:nvPr/>
        </p:nvSpPr>
        <p:spPr>
          <a:xfrm>
            <a:off x="6355080" y="157357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2600" dirty="false">
                <a:solidFill>
                  <a:srgbClr val="000000"/>
                </a:solidFill>
              </a:rPr>
              <a:t>📶</a:t>
            </a:r>
            <a:endParaRPr lang="en-US" sz="2600" dirty="false"/>
          </a:p>
        </p:txBody>
      </p:sp>
      <p:sp>
        <p:nvSpPr>
          <p:cNvPr id="343" name="Text 22"/>
          <p:cNvSpPr/>
          <p:nvPr/>
        </p:nvSpPr>
        <p:spPr>
          <a:xfrm>
            <a:off x="6858000" y="1591867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true" dirty="false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PLS</a:t>
            </a:r>
            <a:endParaRPr lang="en-US" sz="2200" dirty="false"/>
          </a:p>
        </p:txBody>
      </p:sp>
      <p:sp>
        <p:nvSpPr>
          <p:cNvPr id="344" name="Text 23"/>
          <p:cNvSpPr/>
          <p:nvPr/>
        </p:nvSpPr>
        <p:spPr>
          <a:xfrm>
            <a:off x="6858000" y="1847899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物理层双因子</a:t>
            </a:r>
            <a:endParaRPr lang="en-US" sz="1100" dirty="false"/>
          </a:p>
        </p:txBody>
      </p:sp>
      <p:sp>
        <p:nvSpPr>
          <p:cNvPr id="345" name="Shape 24"/>
          <p:cNvSpPr/>
          <p:nvPr/>
        </p:nvSpPr>
        <p:spPr>
          <a:xfrm>
            <a:off x="6355080" y="2167939"/>
            <a:ext cx="2194560" cy="9144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346" name="Text 25"/>
          <p:cNvSpPr/>
          <p:nvPr/>
        </p:nvSpPr>
        <p:spPr>
          <a:xfrm>
            <a:off x="6355080" y="2259379"/>
            <a:ext cx="2194560" cy="155448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 fontScale="100000"/>
          </a:bodyPr>
          <a:lstStyle/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CSI 多径指纹特征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Rayleigh 仿真信道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信道互易性+空间唯一性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不可转移物理第二因子</a:t>
            </a:r>
            <a:endParaRPr/>
          </a:p>
        </p:txBody>
      </p:sp>
      <p:sp>
        <p:nvSpPr>
          <p:cNvPr id="347" name="Text 26"/>
          <p:cNvSpPr/>
          <p:nvPr/>
        </p:nvSpPr>
        <p:spPr>
          <a:xfrm>
            <a:off x="1645920" y="4088179"/>
            <a:ext cx="585216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4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三重融合 = 抗量子 + 强匿名 + 物理防伪 ◂</a:t>
            </a:r>
            <a:endParaRPr lang="en-US" sz="1400" dirty="false"/>
          </a:p>
        </p:txBody>
      </p:sp>
      <p:sp>
        <p:nvSpPr>
          <p:cNvPr id="348" name="文本框 28"/>
          <p:cNvSpPr txBox="true"/>
          <p:nvPr/>
        </p:nvSpPr>
        <p:spPr>
          <a:xfrm>
            <a:off x="325208" y="4459125"/>
            <a:ext cx="7905750" cy="29210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>
              <a:lnSpc>
                <a:spcPct val="130000"/>
              </a:lnSpc>
              <a:buSzPct val="100000"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*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ZKP = 教育级 Sigma；PLS = Rayleigh 仿真，可换 802.11p/5G CSI；</a:t>
            </a: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PQC = dilithium-py 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教育实现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3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351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PQC 后量子格签名</a:t>
            </a:r>
            <a:endParaRPr lang="en-US" sz="2800" dirty="false"/>
          </a:p>
        </p:txBody>
      </p:sp>
      <p:sp>
        <p:nvSpPr>
          <p:cNvPr id="352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CRYSTALS-Dilithium / ML-DSA</a:t>
            </a:r>
            <a:endParaRPr lang="en-US" sz="1300" dirty="false"/>
          </a:p>
        </p:txBody>
      </p:sp>
      <p:sp>
        <p:nvSpPr>
          <p:cNvPr id="353" name="Shape 3"/>
          <p:cNvSpPr/>
          <p:nvPr/>
        </p:nvSpPr>
        <p:spPr>
          <a:xfrm>
            <a:off x="681228" y="1335024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354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false"/>
          </a:p>
        </p:txBody>
      </p:sp>
      <p:sp>
        <p:nvSpPr>
          <p:cNvPr id="355" name="Shape 5"/>
          <p:cNvSpPr/>
          <p:nvPr/>
        </p:nvSpPr>
        <p:spPr>
          <a:xfrm rot="0" flipH="false" flipV="false">
            <a:off x="457200" y="1417320"/>
            <a:ext cx="4009812" cy="3200400"/>
          </a:xfrm>
          <a:prstGeom prst="roundRect">
            <a:avLst>
              <a:gd name="adj" fmla="val 2286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356" name="Text 6"/>
          <p:cNvSpPr/>
          <p:nvPr/>
        </p:nvSpPr>
        <p:spPr>
          <a:xfrm rot="0" flipH="false" flipV="false">
            <a:off x="612648" y="155322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zh-CN" sz="1600" b="true">
                <a:solidFill>
                  <a:srgbClr val="58A6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关键参数</a:t>
            </a:r>
            <a:endParaRPr/>
          </a:p>
        </p:txBody>
      </p:sp>
      <p:sp>
        <p:nvSpPr>
          <p:cNvPr id="357" name="Text 7"/>
          <p:cNvSpPr/>
          <p:nvPr/>
        </p:nvSpPr>
        <p:spPr>
          <a:xfrm rot="0" flipH="false" flipV="false">
            <a:off x="658368" y="1978103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密码体制</a:t>
            </a:r>
            <a:endParaRPr lang="en-US" sz="1100" dirty="false"/>
          </a:p>
        </p:txBody>
      </p:sp>
      <p:sp>
        <p:nvSpPr>
          <p:cNvPr id="358" name="Text 8"/>
          <p:cNvSpPr/>
          <p:nvPr/>
        </p:nvSpPr>
        <p:spPr>
          <a:xfrm rot="0" flipH="false" flipV="false">
            <a:off x="1892808" y="197810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基于格 (Lattice-based)</a:t>
            </a:r>
            <a:endParaRPr lang="en-US" sz="1100" dirty="false"/>
          </a:p>
        </p:txBody>
      </p:sp>
      <p:sp>
        <p:nvSpPr>
          <p:cNvPr id="359" name="Text 9"/>
          <p:cNvSpPr/>
          <p:nvPr/>
        </p:nvSpPr>
        <p:spPr>
          <a:xfrm rot="0" flipH="false" flipV="false">
            <a:off x="658368" y="2298143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安全基础</a:t>
            </a:r>
            <a:endParaRPr lang="en-US" sz="1100" dirty="false"/>
          </a:p>
        </p:txBody>
      </p:sp>
      <p:sp>
        <p:nvSpPr>
          <p:cNvPr id="360" name="Text 10"/>
          <p:cNvSpPr/>
          <p:nvPr/>
        </p:nvSpPr>
        <p:spPr>
          <a:xfrm rot="0" flipH="false" flipV="false">
            <a:off x="1892808" y="229814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SIS / MLWE 困难问题</a:t>
            </a:r>
            <a:endParaRPr lang="en-US" sz="1100" dirty="false"/>
          </a:p>
        </p:txBody>
      </p:sp>
      <p:sp>
        <p:nvSpPr>
          <p:cNvPr id="361" name="Text 11"/>
          <p:cNvSpPr/>
          <p:nvPr/>
        </p:nvSpPr>
        <p:spPr>
          <a:xfrm rot="0" flipH="false" flipV="false">
            <a:off x="658368" y="2618183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标准化</a:t>
            </a:r>
            <a:endParaRPr lang="en-US" sz="1100" dirty="false"/>
          </a:p>
        </p:txBody>
      </p:sp>
      <p:sp>
        <p:nvSpPr>
          <p:cNvPr id="362" name="Text 12"/>
          <p:cNvSpPr/>
          <p:nvPr/>
        </p:nvSpPr>
        <p:spPr>
          <a:xfrm rot="0" flipH="false" flipV="false">
            <a:off x="1892808" y="261818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NIST FIPS 204 (ML-DSA)</a:t>
            </a:r>
            <a:endParaRPr lang="en-US" sz="1100" dirty="false"/>
          </a:p>
        </p:txBody>
      </p:sp>
      <p:sp>
        <p:nvSpPr>
          <p:cNvPr id="363" name="Text 13"/>
          <p:cNvSpPr/>
          <p:nvPr/>
        </p:nvSpPr>
        <p:spPr>
          <a:xfrm rot="0" flipH="false" flipV="false">
            <a:off x="658368" y="2938223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安全级别</a:t>
            </a:r>
            <a:endParaRPr lang="en-US" sz="1100" dirty="false"/>
          </a:p>
        </p:txBody>
      </p:sp>
      <p:sp>
        <p:nvSpPr>
          <p:cNvPr id="364" name="Text 14"/>
          <p:cNvSpPr/>
          <p:nvPr/>
        </p:nvSpPr>
        <p:spPr>
          <a:xfrm rot="0" flipH="false" flipV="false">
            <a:off x="1892808" y="293822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Level 2 (≈128-bit 经典安全)</a:t>
            </a:r>
            <a:endParaRPr lang="en-US" sz="1100" dirty="false"/>
          </a:p>
        </p:txBody>
      </p:sp>
      <p:sp>
        <p:nvSpPr>
          <p:cNvPr id="365" name="Text 15"/>
          <p:cNvSpPr/>
          <p:nvPr/>
        </p:nvSpPr>
        <p:spPr>
          <a:xfrm rot="0" flipH="false" flipV="false">
            <a:off x="658368" y="3258263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密钥大小</a:t>
            </a:r>
            <a:endParaRPr lang="en-US" sz="1100" dirty="false"/>
          </a:p>
        </p:txBody>
      </p:sp>
      <p:sp>
        <p:nvSpPr>
          <p:cNvPr id="366" name="Text 16"/>
          <p:cNvSpPr/>
          <p:nvPr/>
        </p:nvSpPr>
        <p:spPr>
          <a:xfrm rot="0" flipH="false" flipV="false">
            <a:off x="1892808" y="325826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pk: 1312B, sk: 2528B (L2)</a:t>
            </a:r>
            <a:endParaRPr lang="en-US" sz="1100" dirty="false"/>
          </a:p>
        </p:txBody>
      </p:sp>
      <p:sp>
        <p:nvSpPr>
          <p:cNvPr id="367" name="Text 17"/>
          <p:cNvSpPr/>
          <p:nvPr/>
        </p:nvSpPr>
        <p:spPr>
          <a:xfrm rot="0" flipH="false" flipV="false">
            <a:off x="658368" y="3578303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签名大小</a:t>
            </a:r>
            <a:endParaRPr lang="en-US" sz="1100" dirty="false"/>
          </a:p>
        </p:txBody>
      </p:sp>
      <p:sp>
        <p:nvSpPr>
          <p:cNvPr id="368" name="Text 18"/>
          <p:cNvSpPr/>
          <p:nvPr/>
        </p:nvSpPr>
        <p:spPr>
          <a:xfrm rot="0" flipH="false" flipV="false">
            <a:off x="1892808" y="357830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~2420B (L2)</a:t>
            </a:r>
            <a:endParaRPr lang="en-US" sz="1100" dirty="false"/>
          </a:p>
        </p:txBody>
      </p:sp>
      <p:sp>
        <p:nvSpPr>
          <p:cNvPr id="369" name="Text 19"/>
          <p:cNvSpPr/>
          <p:nvPr/>
        </p:nvSpPr>
        <p:spPr>
          <a:xfrm rot="0" flipH="false" flipV="false">
            <a:off x="658368" y="3898343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</a:t>
            </a:r>
            <a:endParaRPr lang="en-US" sz="1100" dirty="false"/>
          </a:p>
        </p:txBody>
      </p:sp>
      <p:sp>
        <p:nvSpPr>
          <p:cNvPr id="370" name="Text 20"/>
          <p:cNvSpPr/>
          <p:nvPr/>
        </p:nvSpPr>
        <p:spPr>
          <a:xfrm rot="0" flipH="false" flipV="false">
            <a:off x="1892808" y="389834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dilithium-py (教育/研究)</a:t>
            </a:r>
            <a:endParaRPr lang="en-US" sz="1100" dirty="false"/>
          </a:p>
        </p:txBody>
      </p:sp>
      <p:sp>
        <p:nvSpPr>
          <p:cNvPr id="371" name="Text 21"/>
          <p:cNvSpPr/>
          <p:nvPr/>
        </p:nvSpPr>
        <p:spPr>
          <a:xfrm rot="0" flipH="false" flipV="false">
            <a:off x="658368" y="4218383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生产建议</a:t>
            </a:r>
            <a:endParaRPr lang="en-US" sz="1100" dirty="false"/>
          </a:p>
        </p:txBody>
      </p:sp>
      <p:sp>
        <p:nvSpPr>
          <p:cNvPr id="372" name="Text 22"/>
          <p:cNvSpPr/>
          <p:nvPr/>
        </p:nvSpPr>
        <p:spPr>
          <a:xfrm rot="0" flipH="false" flipV="false">
            <a:off x="1892808" y="4218383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替换为 OQS/liboqs C 后端</a:t>
            </a:r>
            <a:endParaRPr lang="en-US" sz="1100" dirty="false"/>
          </a:p>
        </p:txBody>
      </p:sp>
      <p:sp>
        <p:nvSpPr>
          <p:cNvPr id="373" name="Shape 23"/>
          <p:cNvSpPr/>
          <p:nvPr/>
        </p:nvSpPr>
        <p:spPr>
          <a:xfrm rot="0" flipH="false" flipV="false">
            <a:off x="4869181" y="1417320"/>
            <a:ext cx="4091939" cy="3200400"/>
          </a:xfrm>
          <a:prstGeom prst="roundRect">
            <a:avLst>
              <a:gd name="adj" fmla="val 2286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374" name="Text 24"/>
          <p:cNvSpPr/>
          <p:nvPr/>
        </p:nvSpPr>
        <p:spPr>
          <a:xfrm rot="0" flipH="false" flipV="false">
            <a:off x="5097781" y="1553228"/>
            <a:ext cx="3383279" cy="29260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zh-CN" sz="1600" b="true">
                <a:solidFill>
                  <a:srgbClr val="3FB95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格密码原理</a:t>
            </a:r>
            <a:endParaRPr/>
          </a:p>
        </p:txBody>
      </p:sp>
      <p:sp>
        <p:nvSpPr>
          <p:cNvPr id="375" name="Text 25"/>
          <p:cNvSpPr/>
          <p:nvPr/>
        </p:nvSpPr>
        <p:spPr>
          <a:xfrm rot="0" flipH="false" flipV="false">
            <a:off x="4869181" y="1845836"/>
            <a:ext cx="3840479" cy="2760846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Autofit/>
          </a:bodyPr>
          <a:lstStyle/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4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格 (Lattice) = 高维整数点离散加法群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4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困难问题: SVP/CVP 在多项式近似下NP-hard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4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Dilithium: 基于 Module-LWE 的 Fiat-Shamir签名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4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安全归约到最坏情况格问题(Worst-Case to Average-Case)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4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量子攻击: Shor无法攻破格问题(非交换群)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4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抗量子: 目前无量子算法比经典算法显著更优</a:t>
            </a:r>
            <a:endParaRPr/>
          </a:p>
        </p:txBody>
      </p:sp>
      <p:sp>
        <p:nvSpPr>
          <p:cNvPr id="376" name="文本框 27"/>
          <p:cNvSpPr txBox="true"/>
          <p:nvPr/>
        </p:nvSpPr>
        <p:spPr>
          <a:xfrm>
            <a:off x="345683" y="4617720"/>
            <a:ext cx="7905750" cy="29210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>
              <a:lnSpc>
                <a:spcPct val="130000"/>
              </a:lnSpc>
              <a:buSzPct val="100000"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*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本实验签名验证耗时占主导，生产建议 liboqs + ARM NEON；</a:t>
            </a: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Falcon-512 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签名更短但验证更慢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3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379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ZKP 零知识隐私认证</a:t>
            </a:r>
            <a:endParaRPr lang="en-US" sz="2800" dirty="false"/>
          </a:p>
        </p:txBody>
      </p:sp>
      <p:sp>
        <p:nvSpPr>
          <p:cNvPr id="380" name="Text 2"/>
          <p:cNvSpPr/>
          <p:nvPr/>
        </p:nvSpPr>
        <p:spPr>
          <a:xfrm rot="0" flipH="false" flipV="false">
            <a:off x="658368" y="91440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Sigma Protocol + Fiat–Shamir Transform</a:t>
            </a:r>
            <a:endParaRPr lang="en-US" sz="1300" dirty="false"/>
          </a:p>
        </p:txBody>
      </p:sp>
      <p:sp>
        <p:nvSpPr>
          <p:cNvPr id="381" name="Shape 3"/>
          <p:cNvSpPr/>
          <p:nvPr/>
        </p:nvSpPr>
        <p:spPr>
          <a:xfrm>
            <a:off x="658368" y="1325880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382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1000" dirty="false"/>
          </a:p>
        </p:txBody>
      </p:sp>
      <p:sp>
        <p:nvSpPr>
          <p:cNvPr id="383" name="Shape 5"/>
          <p:cNvSpPr/>
          <p:nvPr/>
        </p:nvSpPr>
        <p:spPr>
          <a:xfrm>
            <a:off x="457200" y="123444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384" name="Text 6"/>
          <p:cNvSpPr/>
          <p:nvPr/>
        </p:nvSpPr>
        <p:spPr>
          <a:xfrm>
            <a:off x="640080" y="13075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BC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Sigma 协议流程（知识证明骨架）</a:t>
            </a:r>
            <a:endParaRPr lang="en-US" sz="1500" dirty="false"/>
          </a:p>
        </p:txBody>
      </p:sp>
      <p:sp>
        <p:nvSpPr>
          <p:cNvPr id="385" name="Shape 7"/>
          <p:cNvSpPr/>
          <p:nvPr/>
        </p:nvSpPr>
        <p:spPr>
          <a:xfrm>
            <a:off x="1645920" y="1691640"/>
            <a:ext cx="457200" cy="457200"/>
          </a:xfrm>
          <a:prstGeom prst="ellipse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386" name="Text 8"/>
          <p:cNvSpPr/>
          <p:nvPr/>
        </p:nvSpPr>
        <p:spPr>
          <a:xfrm>
            <a:off x="1645920" y="1691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800" b="true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false"/>
          </a:p>
        </p:txBody>
      </p:sp>
      <p:sp>
        <p:nvSpPr>
          <p:cNvPr id="387" name="Text 9"/>
          <p:cNvSpPr/>
          <p:nvPr/>
        </p:nvSpPr>
        <p:spPr>
          <a:xfrm>
            <a:off x="731520" y="224028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5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Commit</a:t>
            </a:r>
            <a:endParaRPr lang="en-US" sz="1500" dirty="false"/>
          </a:p>
        </p:txBody>
      </p:sp>
      <p:sp>
        <p:nvSpPr>
          <p:cNvPr id="388" name="Text 10"/>
          <p:cNvSpPr/>
          <p:nvPr/>
        </p:nvSpPr>
        <p:spPr>
          <a:xfrm>
            <a:off x="731520" y="25146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证明者生成随机承诺</a:t>
            </a:r>
            <a:endParaRPr lang="en-US" sz="1000" dirty="false"/>
          </a:p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commitment = H(witness, r)</a:t>
            </a:r>
            <a:endParaRPr lang="en-US" sz="1000" dirty="false"/>
          </a:p>
        </p:txBody>
      </p:sp>
      <p:sp>
        <p:nvSpPr>
          <p:cNvPr id="389" name="Text 11"/>
          <p:cNvSpPr/>
          <p:nvPr/>
        </p:nvSpPr>
        <p:spPr>
          <a:xfrm>
            <a:off x="3140964" y="1737360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2200" dirty="false">
                <a:solidFill>
                  <a:srgbClr val="8B949E"/>
                </a:solidFill>
              </a:rPr>
              <a:t>→</a:t>
            </a:r>
            <a:endParaRPr lang="en-US" sz="2200" dirty="false"/>
          </a:p>
        </p:txBody>
      </p:sp>
      <p:sp>
        <p:nvSpPr>
          <p:cNvPr id="390" name="Shape 12"/>
          <p:cNvSpPr/>
          <p:nvPr/>
        </p:nvSpPr>
        <p:spPr>
          <a:xfrm>
            <a:off x="4343400" y="1691640"/>
            <a:ext cx="457200" cy="457200"/>
          </a:xfrm>
          <a:prstGeom prst="ellipse">
            <a:avLst/>
          </a:prstGeom>
          <a:solidFill>
            <a:srgbClr val="F0883E"/>
          </a:solidFill>
        </p:spPr>
        <p:txBody>
          <a:bodyPr/>
          <a:p/>
        </p:txBody>
      </p:sp>
      <p:sp>
        <p:nvSpPr>
          <p:cNvPr id="391" name="Text 13"/>
          <p:cNvSpPr/>
          <p:nvPr/>
        </p:nvSpPr>
        <p:spPr>
          <a:xfrm>
            <a:off x="4343400" y="1691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800" b="true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false"/>
          </a:p>
        </p:txBody>
      </p:sp>
      <p:sp>
        <p:nvSpPr>
          <p:cNvPr id="392" name="Text 14"/>
          <p:cNvSpPr/>
          <p:nvPr/>
        </p:nvSpPr>
        <p:spPr>
          <a:xfrm>
            <a:off x="3429000" y="224028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500" b="true" dirty="false">
                <a:solidFill>
                  <a:srgbClr val="F08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Challenge</a:t>
            </a:r>
            <a:endParaRPr lang="en-US" sz="1500" dirty="false"/>
          </a:p>
        </p:txBody>
      </p:sp>
      <p:sp>
        <p:nvSpPr>
          <p:cNvPr id="393" name="Text 15"/>
          <p:cNvSpPr/>
          <p:nvPr/>
        </p:nvSpPr>
        <p:spPr>
          <a:xfrm>
            <a:off x="3429000" y="25146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验证者发送随机挑战</a:t>
            </a:r>
            <a:endParaRPr lang="en-US" sz="1000" dirty="false"/>
          </a:p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challenge ← {0,1}²⁵⁶</a:t>
            </a:r>
            <a:endParaRPr lang="en-US" sz="1000" dirty="false"/>
          </a:p>
        </p:txBody>
      </p:sp>
      <p:sp>
        <p:nvSpPr>
          <p:cNvPr id="394" name="Text 16"/>
          <p:cNvSpPr/>
          <p:nvPr/>
        </p:nvSpPr>
        <p:spPr>
          <a:xfrm>
            <a:off x="5838444" y="1737360"/>
            <a:ext cx="164592" cy="3657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2200" dirty="false">
                <a:solidFill>
                  <a:srgbClr val="8B949E"/>
                </a:solidFill>
              </a:rPr>
              <a:t>→</a:t>
            </a:r>
            <a:endParaRPr lang="en-US" sz="2200" dirty="false"/>
          </a:p>
        </p:txBody>
      </p:sp>
      <p:sp>
        <p:nvSpPr>
          <p:cNvPr id="395" name="Shape 17"/>
          <p:cNvSpPr/>
          <p:nvPr/>
        </p:nvSpPr>
        <p:spPr>
          <a:xfrm>
            <a:off x="7040880" y="1691640"/>
            <a:ext cx="457200" cy="457200"/>
          </a:xfrm>
          <a:prstGeom prst="ellipse">
            <a:avLst/>
          </a:prstGeom>
          <a:solidFill>
            <a:srgbClr val="3FB950"/>
          </a:solidFill>
        </p:spPr>
        <p:txBody>
          <a:bodyPr/>
          <a:p/>
        </p:txBody>
      </p:sp>
      <p:sp>
        <p:nvSpPr>
          <p:cNvPr id="396" name="Text 18"/>
          <p:cNvSpPr/>
          <p:nvPr/>
        </p:nvSpPr>
        <p:spPr>
          <a:xfrm>
            <a:off x="7040880" y="1691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800" b="true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800" dirty="false"/>
          </a:p>
        </p:txBody>
      </p:sp>
      <p:sp>
        <p:nvSpPr>
          <p:cNvPr id="397" name="Text 19"/>
          <p:cNvSpPr/>
          <p:nvPr/>
        </p:nvSpPr>
        <p:spPr>
          <a:xfrm>
            <a:off x="6126480" y="224028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500" b="true" dirty="false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Response</a:t>
            </a:r>
            <a:endParaRPr lang="en-US" sz="1500" dirty="false"/>
          </a:p>
        </p:txBody>
      </p:sp>
      <p:sp>
        <p:nvSpPr>
          <p:cNvPr id="398" name="Text 20"/>
          <p:cNvSpPr/>
          <p:nvPr/>
        </p:nvSpPr>
        <p:spPr>
          <a:xfrm>
            <a:off x="6126480" y="25146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证明者计算响应</a:t>
            </a:r>
            <a:endParaRPr lang="en-US" sz="1000" dirty="false"/>
          </a:p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response = f(witness, challenge)</a:t>
            </a:r>
            <a:endParaRPr lang="en-US" sz="1000" dirty="false"/>
          </a:p>
        </p:txBody>
      </p:sp>
      <p:sp>
        <p:nvSpPr>
          <p:cNvPr id="399" name="Shape 21"/>
          <p:cNvSpPr/>
          <p:nvPr/>
        </p:nvSpPr>
        <p:spPr>
          <a:xfrm rot="0" flipH="false" flipV="false">
            <a:off x="457200" y="3396996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400" name="Text 22"/>
          <p:cNvSpPr/>
          <p:nvPr/>
        </p:nvSpPr>
        <p:spPr>
          <a:xfrm rot="0" flipH="false" flipV="false">
            <a:off x="640080" y="3470148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Fiat–Shamir 变换 → 非交互式 ZKP</a:t>
            </a:r>
            <a:endParaRPr lang="en-US" sz="1500" dirty="false"/>
          </a:p>
        </p:txBody>
      </p:sp>
      <p:sp>
        <p:nvSpPr>
          <p:cNvPr id="401" name="Text 23"/>
          <p:cNvSpPr/>
          <p:nvPr/>
        </p:nvSpPr>
        <p:spPr>
          <a:xfrm rot="0" flipH="false" flipV="false">
            <a:off x="640080" y="3762756"/>
            <a:ext cx="7863840" cy="77724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 fontScale="92500" lnSpcReduction="10000"/>
          </a:bodyPr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挑战值由证明者自行计算：challenge = Hash(commitment ‖ public_input ‖ message)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证明格式：π = (commitment, response, challenge_digest)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验证者重算挑战并校验：Commit(public_input, response) = commitment + challenge · public_input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优势：无需交互 → 适合 IoV/V2X 高延迟不可靠信道；每次认证生成全新证明，不可链接</a:t>
            </a:r>
            <a:endParaRPr lang="en-US" sz="1000" dirty="false"/>
          </a:p>
        </p:txBody>
      </p:sp>
      <p:sp>
        <p:nvSpPr>
          <p:cNvPr id="402" name="文本框 25"/>
          <p:cNvSpPr txBox="true"/>
          <p:nvPr/>
        </p:nvSpPr>
        <p:spPr>
          <a:xfrm rot="0" flipH="false" flipV="false">
            <a:off x="390525" y="3063240"/>
            <a:ext cx="7905750" cy="29210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>
              <a:lnSpc>
                <a:spcPct val="130000"/>
              </a:lnSpc>
              <a:buSzPct val="100000"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* 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基于离散对数</a:t>
            </a: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/Schnorr 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类型的 </a:t>
            </a: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Sigma 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演示骨架，非 </a:t>
            </a: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Groth16/plonk SNARK</a:t>
            </a:r>
            <a:endParaRPr lang="zh-CN" sz="1000">
              <a:solidFill>
                <a:srgbClr val="8B949E">
                  <a:alpha val="100000"/>
                </a:srgbClr>
              </a:solidFill>
              <a:latin typeface="微软雅黑"/>
              <a:ea typeface="微软雅黑"/>
              <a:cs typeface="+mn-cs"/>
            </a:endParaRPr>
          </a:p>
        </p:txBody>
      </p:sp>
      <p:sp>
        <p:nvSpPr>
          <p:cNvPr id="403" name="文本框 25"/>
          <p:cNvSpPr txBox="true"/>
          <p:nvPr/>
        </p:nvSpPr>
        <p:spPr>
          <a:xfrm rot="0" flipH="false" flipV="false">
            <a:off x="390525" y="4631436"/>
            <a:ext cx="7905750" cy="292100"/>
          </a:xfrm>
          <a:prstGeom prst="rect">
            <a:avLst/>
          </a:prstGeom>
          <a:noFill/>
        </p:spPr>
        <p:txBody>
          <a:bodyPr wrap="square" rtlCol="false">
            <a:spAutoFit/>
          </a:bodyPr>
          <a:lstStyle/>
          <a:p>
            <a:pPr>
              <a:lnSpc>
                <a:spcPct val="130000"/>
              </a:lnSpc>
              <a:buSzPct val="100000"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* Challenge 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由</a:t>
            </a: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 Hash 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导出，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即</a:t>
            </a: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 Fiat–Shamir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，与</a:t>
            </a: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 PQ-TDAA 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的</a:t>
            </a: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 FS Schnorr </a:t>
            </a:r>
            <a:r>
              <a:rPr lang="zh-CN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同技术族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4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406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PLS 物理层双因子认证</a:t>
            </a:r>
            <a:endParaRPr lang="en-US" sz="2800" dirty="false"/>
          </a:p>
        </p:txBody>
      </p:sp>
      <p:sp>
        <p:nvSpPr>
          <p:cNvPr id="407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CSI Fingerprint as Second Factor</a:t>
            </a:r>
            <a:endParaRPr lang="en-US" sz="1300" dirty="false"/>
          </a:p>
        </p:txBody>
      </p:sp>
      <p:sp>
        <p:nvSpPr>
          <p:cNvPr id="408" name="Shape 3"/>
          <p:cNvSpPr/>
          <p:nvPr/>
        </p:nvSpPr>
        <p:spPr>
          <a:xfrm>
            <a:off x="658368" y="1283043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409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000" dirty="false"/>
          </a:p>
        </p:txBody>
      </p:sp>
      <p:sp>
        <p:nvSpPr>
          <p:cNvPr id="410" name="Shape 5"/>
          <p:cNvSpPr/>
          <p:nvPr/>
        </p:nvSpPr>
        <p:spPr>
          <a:xfrm>
            <a:off x="457200" y="1342777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411" name="Text 6"/>
          <p:cNvSpPr/>
          <p:nvPr/>
        </p:nvSpPr>
        <p:spPr>
          <a:xfrm>
            <a:off x="594360" y="1452505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600" b="true" dirty="false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CSI 信道指纹原理</a:t>
            </a:r>
            <a:endParaRPr lang="en-US" sz="1600" dirty="false"/>
          </a:p>
        </p:txBody>
      </p:sp>
      <p:sp>
        <p:nvSpPr>
          <p:cNvPr id="412" name="Text 7"/>
          <p:cNvSpPr/>
          <p:nvPr/>
        </p:nvSpPr>
        <p:spPr>
          <a:xfrm>
            <a:off x="594360" y="1845697"/>
            <a:ext cx="3657600" cy="256032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/>
          </a:bodyPr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CSI (Channel State Information)：描述无线信道多径传播特性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空间唯一性：不同位置的信道特征高度不相关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时变性：CSI 随时间变化，增加不可预测性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本实现：Rayleigh 多径模型仿真 CSI 幅度特征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默认维度：64 子载波 × 8 多径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匹配算法：皮尔逊相关系数 ρ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认证判定：ρ ≥ γ (默认 γ = 0.85)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实际部署：可替换为 802.11p / 5G NR CSI 采集</a:t>
            </a:r>
            <a:endParaRPr lang="en-US" sz="1000" dirty="false"/>
          </a:p>
        </p:txBody>
      </p:sp>
      <p:sp>
        <p:nvSpPr>
          <p:cNvPr id="413" name="Shape 8"/>
          <p:cNvSpPr/>
          <p:nvPr/>
        </p:nvSpPr>
        <p:spPr>
          <a:xfrm>
            <a:off x="5212080" y="1342777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414" name="Text 9"/>
          <p:cNvSpPr/>
          <p:nvPr/>
        </p:nvSpPr>
        <p:spPr>
          <a:xfrm>
            <a:off x="5349240" y="1452505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600" b="true" dirty="false">
                <a:solidFill>
                  <a:srgbClr val="F08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数学模型</a:t>
            </a:r>
            <a:endParaRPr lang="en-US" sz="1600" dirty="false"/>
          </a:p>
        </p:txBody>
      </p:sp>
      <p:sp>
        <p:nvSpPr>
          <p:cNvPr id="415" name="Shape 10"/>
          <p:cNvSpPr/>
          <p:nvPr/>
        </p:nvSpPr>
        <p:spPr>
          <a:xfrm>
            <a:off x="5349240" y="1845697"/>
            <a:ext cx="3200400" cy="1097280"/>
          </a:xfrm>
          <a:prstGeom prst="roundRect">
            <a:avLst>
              <a:gd name="adj" fmla="val 4167"/>
            </a:avLst>
          </a:prstGeom>
          <a:solidFill>
            <a:srgbClr val="1C2333"/>
          </a:solidFill>
        </p:spPr>
        <p:txBody>
          <a:bodyPr/>
          <a:p/>
        </p:txBody>
      </p:sp>
      <p:sp>
        <p:nvSpPr>
          <p:cNvPr id="416" name="Text 11"/>
          <p:cNvSpPr/>
          <p:nvPr/>
        </p:nvSpPr>
        <p:spPr>
          <a:xfrm>
            <a:off x="5486400" y="1937137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200" i="true" dirty="false">
                <a:solidFill>
                  <a:srgbClr val="F08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ρ = Cov(Φ_V, Φ_R) / (σ_V · σ_R) ≥ γ</a:t>
            </a:r>
            <a:endParaRPr lang="en-US" sz="1200" dirty="false"/>
          </a:p>
        </p:txBody>
      </p:sp>
      <p:sp>
        <p:nvSpPr>
          <p:cNvPr id="417" name="Text 12"/>
          <p:cNvSpPr/>
          <p:nvPr/>
        </p:nvSpPr>
        <p:spPr>
          <a:xfrm>
            <a:off x="5486400" y="2302897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Φ_V: OBU 上报 CSI    Φ_R: RSU 测量 CSI</a:t>
            </a:r>
            <a:endParaRPr lang="en-US" sz="1000" dirty="false"/>
          </a:p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γ: 认证阈值 (默认 0.85)</a:t>
            </a:r>
            <a:endParaRPr lang="en-US" sz="1000" dirty="false"/>
          </a:p>
        </p:txBody>
      </p:sp>
      <p:sp>
        <p:nvSpPr>
          <p:cNvPr id="418" name="Text 13"/>
          <p:cNvSpPr/>
          <p:nvPr/>
        </p:nvSpPr>
        <p:spPr>
          <a:xfrm>
            <a:off x="5349240" y="3125857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400" b="true" dirty="false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防御场景</a:t>
            </a:r>
            <a:endParaRPr lang="en-US" sz="1400" dirty="false"/>
          </a:p>
        </p:txBody>
      </p:sp>
      <p:sp>
        <p:nvSpPr>
          <p:cNvPr id="419" name="Text 14"/>
          <p:cNvSpPr/>
          <p:nvPr/>
        </p:nvSpPr>
        <p:spPr>
          <a:xfrm>
            <a:off x="5349240" y="3491617"/>
            <a:ext cx="3200400" cy="91440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 fontScale="77500" lnSpcReduction="20000"/>
          </a:bodyPr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9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证书窃取 + 远程冒充：</a:t>
            </a:r>
            <a:endParaRPr lang="en-US" sz="9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9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异地 CSI 不匹配 → 拒绝</a:t>
            </a:r>
            <a:endParaRPr lang="en-US" sz="9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9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中继攻击：</a:t>
            </a:r>
            <a:endParaRPr lang="en-US" sz="9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9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中继改变信道特征 → 降分</a:t>
            </a:r>
            <a:endParaRPr lang="en-US" sz="9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9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物理邻近攻击：</a:t>
            </a:r>
            <a:endParaRPr lang="en-US" sz="9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9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不同位置 CSI 高度不相关</a:t>
            </a:r>
            <a:endParaRPr lang="en-US" sz="900" dirty="fals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融合协议架构与认证流程</a:t>
            </a:r>
            <a:endParaRPr lang="en-US" sz="2800" dirty="false"/>
          </a:p>
        </p:txBody>
      </p:sp>
      <p:sp>
        <p:nvSpPr>
          <p:cNvPr id="4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FusionAuthProtocol — End-to-End Flow</a:t>
            </a:r>
            <a:endParaRPr lang="en-US" sz="1300" dirty="false"/>
          </a:p>
        </p:txBody>
      </p:sp>
      <p:sp>
        <p:nvSpPr>
          <p:cNvPr id="5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1000" dirty="false"/>
          </a:p>
        </p:txBody>
      </p:sp>
      <p:pic>
        <p:nvPicPr>
          <p:cNvPr id="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30352" y="1280160"/>
            <a:ext cx="5626838" cy="356616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9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会话绑定：IoVAuthFrame</a:t>
            </a:r>
            <a:endParaRPr lang="en-US" sz="2800" dirty="false"/>
          </a:p>
        </p:txBody>
      </p:sp>
      <p:sp>
        <p:nvSpPr>
          <p:cNvPr id="10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V2X-Style Session Freshness &amp; Replay Defense</a:t>
            </a:r>
            <a:endParaRPr lang="en-US" sz="1300" dirty="false"/>
          </a:p>
        </p:txBody>
      </p:sp>
      <p:sp>
        <p:nvSpPr>
          <p:cNvPr id="11" name="Shape 3"/>
          <p:cNvSpPr/>
          <p:nvPr/>
        </p:nvSpPr>
        <p:spPr>
          <a:xfrm>
            <a:off x="658368" y="1325880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12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false"/>
          </a:p>
        </p:txBody>
      </p:sp>
      <p:sp>
        <p:nvSpPr>
          <p:cNvPr id="13" name="Shape 5"/>
          <p:cNvSpPr/>
          <p:nvPr/>
        </p:nvSpPr>
        <p:spPr>
          <a:xfrm rot="0" flipH="false" flipV="false">
            <a:off x="457200" y="123444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14" name="Text 6"/>
          <p:cNvSpPr/>
          <p:nvPr/>
        </p:nvSpPr>
        <p:spPr>
          <a:xfrm>
            <a:off x="640080" y="130759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IoVAuthFrame 结构设计</a:t>
            </a:r>
            <a:endParaRPr lang="en-US" sz="1500" dirty="false"/>
          </a:p>
        </p:txBody>
      </p:sp>
      <p:sp>
        <p:nvSpPr>
          <p:cNvPr id="15" name="Shape 7"/>
          <p:cNvSpPr/>
          <p:nvPr/>
        </p:nvSpPr>
        <p:spPr>
          <a:xfrm>
            <a:off x="640080" y="169164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1C2333"/>
          </a:solidFill>
        </p:spPr>
        <p:txBody>
          <a:bodyPr/>
          <a:p/>
        </p:txBody>
      </p:sp>
      <p:sp>
        <p:nvSpPr>
          <p:cNvPr id="16" name="Text 8"/>
          <p:cNvSpPr/>
          <p:nvPr/>
        </p:nvSpPr>
        <p:spPr>
          <a:xfrm>
            <a:off x="713232" y="1709928"/>
            <a:ext cx="1636776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3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rsu_id</a:t>
            </a:r>
            <a:endParaRPr lang="en-US" sz="1300" dirty="false"/>
          </a:p>
        </p:txBody>
      </p:sp>
      <p:sp>
        <p:nvSpPr>
          <p:cNvPr id="17" name="Text 9"/>
          <p:cNvSpPr/>
          <p:nvPr/>
        </p:nvSpPr>
        <p:spPr>
          <a:xfrm rot="0" flipH="false" flipV="false">
            <a:off x="713232" y="2240280"/>
            <a:ext cx="1636776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RSU 标识符</a:t>
            </a:r>
            <a:endParaRPr lang="en-US" sz="1000" dirty="false"/>
          </a:p>
        </p:txBody>
      </p:sp>
      <p:sp>
        <p:nvSpPr>
          <p:cNvPr id="18" name="Shape 10"/>
          <p:cNvSpPr/>
          <p:nvPr/>
        </p:nvSpPr>
        <p:spPr>
          <a:xfrm rot="0" flipH="false" flipV="false">
            <a:off x="2651760" y="169164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1C2333"/>
          </a:solidFill>
        </p:spPr>
        <p:txBody>
          <a:bodyPr/>
          <a:p/>
        </p:txBody>
      </p:sp>
      <p:sp>
        <p:nvSpPr>
          <p:cNvPr id="19" name="Text 11"/>
          <p:cNvSpPr/>
          <p:nvPr/>
        </p:nvSpPr>
        <p:spPr>
          <a:xfrm>
            <a:off x="2724912" y="1709928"/>
            <a:ext cx="1636776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300" b="true" dirty="false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timestamp</a:t>
            </a:r>
            <a:endParaRPr lang="en-US" sz="1300" dirty="false"/>
          </a:p>
        </p:txBody>
      </p:sp>
      <p:sp>
        <p:nvSpPr>
          <p:cNvPr id="20" name="Text 12"/>
          <p:cNvSpPr/>
          <p:nvPr/>
        </p:nvSpPr>
        <p:spPr>
          <a:xfrm rot="0" flipH="false" flipV="false">
            <a:off x="2724912" y="2240280"/>
            <a:ext cx="1636776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认证时间戳 (Unix ms)</a:t>
            </a:r>
            <a:endParaRPr lang="en-US" sz="1000" dirty="false"/>
          </a:p>
        </p:txBody>
      </p:sp>
      <p:sp>
        <p:nvSpPr>
          <p:cNvPr id="21" name="Shape 13"/>
          <p:cNvSpPr/>
          <p:nvPr/>
        </p:nvSpPr>
        <p:spPr>
          <a:xfrm>
            <a:off x="4663440" y="169164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1C2333"/>
          </a:solidFill>
        </p:spPr>
        <p:txBody>
          <a:bodyPr/>
          <a:p/>
        </p:txBody>
      </p:sp>
      <p:sp>
        <p:nvSpPr>
          <p:cNvPr id="22" name="Text 14"/>
          <p:cNvSpPr/>
          <p:nvPr/>
        </p:nvSpPr>
        <p:spPr>
          <a:xfrm>
            <a:off x="4736592" y="1709928"/>
            <a:ext cx="1636776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300" b="true" dirty="false">
                <a:solidFill>
                  <a:srgbClr val="F08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nonce</a:t>
            </a:r>
            <a:endParaRPr lang="en-US" sz="1300" dirty="false"/>
          </a:p>
        </p:txBody>
      </p:sp>
      <p:sp>
        <p:nvSpPr>
          <p:cNvPr id="23" name="Text 15"/>
          <p:cNvSpPr/>
          <p:nvPr/>
        </p:nvSpPr>
        <p:spPr>
          <a:xfrm rot="0" flipH="false" flipV="false">
            <a:off x="4736592" y="2212848"/>
            <a:ext cx="1636776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随机数 (防重放)</a:t>
            </a:r>
            <a:endParaRPr lang="en-US" sz="1000" dirty="false"/>
          </a:p>
        </p:txBody>
      </p:sp>
      <p:sp>
        <p:nvSpPr>
          <p:cNvPr id="24" name="Shape 16"/>
          <p:cNvSpPr/>
          <p:nvPr/>
        </p:nvSpPr>
        <p:spPr>
          <a:xfrm>
            <a:off x="6675120" y="169164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1C2333"/>
          </a:solidFill>
        </p:spPr>
        <p:txBody>
          <a:bodyPr/>
          <a:p/>
        </p:txBody>
      </p:sp>
      <p:sp>
        <p:nvSpPr>
          <p:cNvPr id="25" name="Text 17"/>
          <p:cNvSpPr/>
          <p:nvPr/>
        </p:nvSpPr>
        <p:spPr>
          <a:xfrm>
            <a:off x="6748272" y="1709928"/>
            <a:ext cx="1636776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300" b="true" dirty="false">
                <a:solidFill>
                  <a:srgbClr val="BC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epoch</a:t>
            </a:r>
            <a:endParaRPr lang="en-US" sz="1300" dirty="false"/>
          </a:p>
        </p:txBody>
      </p:sp>
      <p:sp>
        <p:nvSpPr>
          <p:cNvPr id="26" name="Text 18"/>
          <p:cNvSpPr/>
          <p:nvPr/>
        </p:nvSpPr>
        <p:spPr>
          <a:xfrm rot="0" flipH="false" flipV="false">
            <a:off x="6720840" y="2212848"/>
            <a:ext cx="1636776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时间窗口编号</a:t>
            </a:r>
            <a:endParaRPr lang="en-US" sz="1000" dirty="false"/>
          </a:p>
        </p:txBody>
      </p:sp>
      <p:sp>
        <p:nvSpPr>
          <p:cNvPr id="27" name="Shape 19"/>
          <p:cNvSpPr/>
          <p:nvPr/>
        </p:nvSpPr>
        <p:spPr>
          <a:xfrm>
            <a:off x="457200" y="288036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28" name="Text 20"/>
          <p:cNvSpPr/>
          <p:nvPr/>
        </p:nvSpPr>
        <p:spPr>
          <a:xfrm>
            <a:off x="640080" y="2971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F781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防重放机制</a:t>
            </a:r>
            <a:endParaRPr lang="en-US" sz="1500" dirty="false"/>
          </a:p>
        </p:txBody>
      </p:sp>
      <p:sp>
        <p:nvSpPr>
          <p:cNvPr id="29" name="Text 21"/>
          <p:cNvSpPr/>
          <p:nvPr/>
        </p:nvSpPr>
        <p:spPr>
          <a:xfrm>
            <a:off x="640080" y="3319272"/>
            <a:ext cx="7863840" cy="128016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/>
          </a:bodyPr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消息绑定：签名和 ZKP 的 message 输入均绑定 IoVAuthFrame.canonical_bytes()</a:t>
            </a:r>
            <a:endParaRPr lang="en-US" sz="11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哈希指纹：RSU 维护已见消息的 SHA-256 哈希表，窗口期内拒绝重复</a:t>
            </a:r>
            <a:endParaRPr lang="en-US" sz="11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时间窗口：默认 5000ms 重放窗口，超时后清理过期条目</a:t>
            </a:r>
            <a:endParaRPr lang="en-US" sz="11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三重防护：nonce 随机性 + timestamp 时效性 + hash 去重</a:t>
            </a:r>
            <a:endParaRPr lang="en-US" sz="11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V2X 兼容：字段设计对标 ETSI ITS 报文格式，可无缝对接现有标准</a:t>
            </a:r>
            <a:endParaRPr lang="en-US" sz="1100" dirty="false"/>
          </a:p>
        </p:txBody>
      </p:sp>
      <p:sp>
        <p:nvSpPr>
          <p:cNvPr id="30" name=""/>
          <p:cNvSpPr txBox="true"/>
          <p:nvPr/>
        </p:nvSpPr>
        <p:spPr>
          <a:xfrm rot="0" flipH="false" flipV="false">
            <a:off x="1261745" y="1984248"/>
            <a:ext cx="539750" cy="2286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sz="9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2bytes</a:t>
            </a:r>
            <a:endParaRPr/>
          </a:p>
        </p:txBody>
      </p:sp>
      <p:sp>
        <p:nvSpPr>
          <p:cNvPr id="31" name=""/>
          <p:cNvSpPr txBox="true"/>
          <p:nvPr/>
        </p:nvSpPr>
        <p:spPr>
          <a:xfrm rot="0" flipH="false" flipV="false">
            <a:off x="3273425" y="1988820"/>
            <a:ext cx="546100" cy="2286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 sz="9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4</a:t>
            </a:r>
            <a:r>
              <a:rPr sz="9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bytes</a:t>
            </a:r>
            <a:endParaRPr/>
          </a:p>
        </p:txBody>
      </p:sp>
      <p:sp>
        <p:nvSpPr>
          <p:cNvPr id="32" name=""/>
          <p:cNvSpPr txBox="true"/>
          <p:nvPr/>
        </p:nvSpPr>
        <p:spPr>
          <a:xfrm rot="0" flipH="false" flipV="false">
            <a:off x="5291455" y="1988820"/>
            <a:ext cx="546100" cy="2286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 sz="9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8</a:t>
            </a:r>
            <a:r>
              <a:rPr sz="9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bytes</a:t>
            </a:r>
            <a:endParaRPr/>
          </a:p>
        </p:txBody>
      </p:sp>
      <p:sp>
        <p:nvSpPr>
          <p:cNvPr id="33" name=""/>
          <p:cNvSpPr txBox="true"/>
          <p:nvPr/>
        </p:nvSpPr>
        <p:spPr>
          <a:xfrm rot="0" flipH="false" flipV="false">
            <a:off x="7269353" y="1984248"/>
            <a:ext cx="539750" cy="2286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sz="9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2bytes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36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消融实验：组件贡献度分析</a:t>
            </a:r>
            <a:endParaRPr lang="en-US" sz="2800" dirty="false"/>
          </a:p>
        </p:txBody>
      </p:sp>
      <p:sp>
        <p:nvSpPr>
          <p:cNvPr id="37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Ablation Study — src/ablation/</a:t>
            </a:r>
            <a:endParaRPr lang="en-US" sz="1300" dirty="false"/>
          </a:p>
        </p:txBody>
      </p:sp>
      <p:sp>
        <p:nvSpPr>
          <p:cNvPr id="38" name="Shape 3"/>
          <p:cNvSpPr/>
          <p:nvPr/>
        </p:nvSpPr>
        <p:spPr>
          <a:xfrm>
            <a:off x="658368" y="1325880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39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 algn="r">
              <a:buNone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11</a:t>
            </a:r>
            <a:endParaRPr/>
          </a:p>
        </p:txBody>
      </p:sp>
      <p:pic>
        <p:nvPicPr>
          <p:cNvPr id="40" name="Image 0" descr="c:\Users\ROG\.trae\work\6a1c1c2d358c809cd7c16c45\ppt_assets\ablation_chart_1200x600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311500" y="1286322"/>
            <a:ext cx="5494940" cy="2747470"/>
          </a:xfrm>
          <a:prstGeom prst="rect">
            <a:avLst/>
          </a:prstGeom>
        </p:spPr>
      </p:pic>
      <p:sp>
        <p:nvSpPr>
          <p:cNvPr id="41" name="Shape 5"/>
          <p:cNvSpPr/>
          <p:nvPr/>
        </p:nvSpPr>
        <p:spPr>
          <a:xfrm rot="0" flipH="false" flipV="false">
            <a:off x="5806440" y="1339596"/>
            <a:ext cx="2743200" cy="3430788"/>
          </a:xfrm>
          <a:prstGeom prst="roundRect">
            <a:avLst>
              <a:gd name="adj" fmla="val 2667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42" name="Text 6"/>
          <p:cNvSpPr/>
          <p:nvPr/>
        </p:nvSpPr>
        <p:spPr>
          <a:xfrm rot="0" flipH="false" flipV="false">
            <a:off x="5943600" y="1451483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sz="1200" b="true">
                <a:solidFill>
                  <a:srgbClr val="F78166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Rubric维度分</a:t>
            </a:r>
            <a:r>
              <a:rPr lang="zh-CN" sz="1200" b="true">
                <a:solidFill>
                  <a:srgbClr val="F78166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数</a:t>
            </a:r>
            <a:endParaRPr/>
          </a:p>
        </p:txBody>
      </p:sp>
      <p:sp>
        <p:nvSpPr>
          <p:cNvPr id="43" name="Shape 7"/>
          <p:cNvSpPr/>
          <p:nvPr/>
        </p:nvSpPr>
        <p:spPr>
          <a:xfrm rot="0" flipH="false" flipV="false">
            <a:off x="6080760" y="1855978"/>
            <a:ext cx="54864" cy="502920"/>
          </a:xfrm>
          <a:prstGeom prst="rect">
            <a:avLst/>
          </a:prstGeom>
          <a:solidFill>
            <a:srgbClr val="3FB950"/>
          </a:solidFill>
        </p:spPr>
        <p:txBody>
          <a:bodyPr/>
          <a:p/>
        </p:txBody>
      </p:sp>
      <p:sp>
        <p:nvSpPr>
          <p:cNvPr id="44" name="Text 8"/>
          <p:cNvSpPr/>
          <p:nvPr/>
        </p:nvSpPr>
        <p:spPr>
          <a:xfrm rot="0" flipH="false" flipV="false">
            <a:off x="6236208" y="1855978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完整方案 (95分)</a:t>
            </a:r>
            <a:endParaRPr lang="en-US" sz="1000" dirty="false"/>
          </a:p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三重保障缺一不可</a:t>
            </a:r>
            <a:endParaRPr lang="en-US" sz="1000" dirty="false"/>
          </a:p>
        </p:txBody>
      </p:sp>
      <p:sp>
        <p:nvSpPr>
          <p:cNvPr id="45" name="Shape 9"/>
          <p:cNvSpPr/>
          <p:nvPr/>
        </p:nvSpPr>
        <p:spPr>
          <a:xfrm rot="0" flipH="false" flipV="false">
            <a:off x="6080760" y="2422906"/>
            <a:ext cx="54864" cy="502920"/>
          </a:xfrm>
          <a:prstGeom prst="rect">
            <a:avLst/>
          </a:prstGeom>
          <a:solidFill>
            <a:srgbClr val="F78166"/>
          </a:solidFill>
        </p:spPr>
        <p:txBody>
          <a:bodyPr/>
          <a:p/>
        </p:txBody>
      </p:sp>
      <p:sp>
        <p:nvSpPr>
          <p:cNvPr id="46" name="Text 10"/>
          <p:cNvSpPr/>
          <p:nvPr/>
        </p:nvSpPr>
        <p:spPr>
          <a:xfrm rot="0" flipH="false" flipV="false">
            <a:off x="6236208" y="2422906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 ZKP (-30分)</a:t>
            </a:r>
            <a:endParaRPr lang="en-US" sz="1000" dirty="false"/>
          </a:p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隐私保护归零，身份可追踪</a:t>
            </a:r>
            <a:endParaRPr lang="en-US" sz="1000" dirty="false"/>
          </a:p>
        </p:txBody>
      </p:sp>
      <p:sp>
        <p:nvSpPr>
          <p:cNvPr id="47" name="Shape 11"/>
          <p:cNvSpPr/>
          <p:nvPr/>
        </p:nvSpPr>
        <p:spPr>
          <a:xfrm rot="0" flipH="false" flipV="false">
            <a:off x="6080760" y="2989834"/>
            <a:ext cx="54864" cy="502920"/>
          </a:xfrm>
          <a:prstGeom prst="rect">
            <a:avLst/>
          </a:prstGeom>
          <a:solidFill>
            <a:srgbClr val="F78166"/>
          </a:solidFill>
        </p:spPr>
        <p:txBody>
          <a:bodyPr/>
          <a:p/>
        </p:txBody>
      </p:sp>
      <p:sp>
        <p:nvSpPr>
          <p:cNvPr id="48" name="Text 12"/>
          <p:cNvSpPr/>
          <p:nvPr/>
        </p:nvSpPr>
        <p:spPr>
          <a:xfrm rot="0" flipH="false" flipV="false">
            <a:off x="6236208" y="2989834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 PLS (-23分)</a:t>
            </a:r>
            <a:endParaRPr lang="en-US" sz="1000" dirty="false"/>
          </a:p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无法防御远程冒充攻击</a:t>
            </a:r>
            <a:endParaRPr lang="en-US" sz="1000" dirty="false"/>
          </a:p>
        </p:txBody>
      </p:sp>
      <p:sp>
        <p:nvSpPr>
          <p:cNvPr id="49" name="Shape 13"/>
          <p:cNvSpPr/>
          <p:nvPr/>
        </p:nvSpPr>
        <p:spPr>
          <a:xfrm rot="0" flipH="false" flipV="false">
            <a:off x="6080760" y="3556762"/>
            <a:ext cx="54864" cy="502920"/>
          </a:xfrm>
          <a:prstGeom prst="rect">
            <a:avLst/>
          </a:prstGeom>
          <a:solidFill>
            <a:srgbClr val="F0883E"/>
          </a:solidFill>
        </p:spPr>
        <p:txBody>
          <a:bodyPr/>
          <a:p/>
        </p:txBody>
      </p:sp>
      <p:sp>
        <p:nvSpPr>
          <p:cNvPr id="50" name="Text 14"/>
          <p:cNvSpPr/>
          <p:nvPr/>
        </p:nvSpPr>
        <p:spPr>
          <a:xfrm rot="0" flipH="false" flipV="false">
            <a:off x="6236208" y="3556762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去会话绑定 (-17分)</a:t>
            </a:r>
            <a:endParaRPr lang="en-US" sz="1000" dirty="false"/>
          </a:p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重放攻击防护失效</a:t>
            </a:r>
            <a:endParaRPr lang="en-US" sz="1000" dirty="false"/>
          </a:p>
        </p:txBody>
      </p:sp>
      <p:sp>
        <p:nvSpPr>
          <p:cNvPr id="51" name="Shape 15"/>
          <p:cNvSpPr/>
          <p:nvPr/>
        </p:nvSpPr>
        <p:spPr>
          <a:xfrm rot="0" flipH="false" flipV="false">
            <a:off x="6080760" y="4123690"/>
            <a:ext cx="54864" cy="502920"/>
          </a:xfrm>
          <a:prstGeom prst="rect">
            <a:avLst/>
          </a:prstGeom>
          <a:solidFill>
            <a:srgbClr val="E55353"/>
          </a:solidFill>
        </p:spPr>
        <p:txBody>
          <a:bodyPr/>
          <a:p/>
        </p:txBody>
      </p:sp>
      <p:sp>
        <p:nvSpPr>
          <p:cNvPr id="52" name="Text 16"/>
          <p:cNvSpPr/>
          <p:nvPr/>
        </p:nvSpPr>
        <p:spPr>
          <a:xfrm rot="0" flipH="false" flipV="false">
            <a:off x="6236208" y="4123690"/>
            <a:ext cx="2313432" cy="5029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PQC Only (-50分)</a:t>
            </a:r>
            <a:endParaRPr lang="en-US" sz="1000" dirty="false"/>
          </a:p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仅保留抗量子，其余全面失守</a:t>
            </a:r>
            <a:endParaRPr lang="en-US" sz="1000" dirty="false"/>
          </a:p>
        </p:txBody>
      </p:sp>
      <p:sp>
        <p:nvSpPr>
          <p:cNvPr id="53" name=""/>
          <p:cNvSpPr txBox="true"/>
          <p:nvPr/>
        </p:nvSpPr>
        <p:spPr>
          <a:xfrm rot="0" flipH="false" flipV="false">
            <a:off x="847104" y="4136390"/>
            <a:ext cx="2679192" cy="4889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完整融合认证成功率: 100%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单次认证延迟: ~4.9ms (fast)</a:t>
            </a:r>
            <a:endParaRPr/>
          </a:p>
        </p:txBody>
      </p:sp>
      <p:sp>
        <p:nvSpPr>
          <p:cNvPr id="54" name=""/>
          <p:cNvSpPr txBox="true"/>
          <p:nvPr/>
        </p:nvSpPr>
        <p:spPr>
          <a:xfrm rot="0" flipH="false" flipV="false">
            <a:off x="847104" y="3863340"/>
            <a:ext cx="1098550" cy="2730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sz="1200" b="true">
                <a:solidFill>
                  <a:srgbClr val="3FB950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良性条件实验</a:t>
            </a:r>
            <a:endParaRPr/>
          </a:p>
        </p:txBody>
      </p:sp>
      <p:sp>
        <p:nvSpPr>
          <p:cNvPr id="55" name=""/>
          <p:cNvSpPr txBox="true"/>
          <p:nvPr/>
        </p:nvSpPr>
        <p:spPr>
          <a:xfrm rot="0" flipH="false" flipV="false">
            <a:off x="3225330" y="4137660"/>
            <a:ext cx="1873250" cy="4889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 marL="349758" lvl="0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通信开销: ~4.4KB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等线"/>
              <a:cs typeface="+mn-cs"/>
            </a:endParaRPr>
          </a:p>
          <a:p>
            <a:pPr marL="349758" lvl="0" indent="-194310">
              <a:lnSpc>
                <a:spcPct val="130000"/>
              </a:lnSpc>
              <a:buFont typeface="Arial" charset="0"/>
              <a:buChar char="●"/>
            </a:pPr>
            <a:r>
              <a:rPr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安全评分: 加权总计优秀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等线"/>
              <a:cs typeface="+mn-cs"/>
            </a:endParaRPr>
          </a:p>
        </p:txBody>
      </p:sp>
      <p:sp>
        <p:nvSpPr>
          <p:cNvPr id="56" name=""/>
          <p:cNvSpPr txBox="true"/>
          <p:nvPr/>
        </p:nvSpPr>
        <p:spPr>
          <a:xfrm rot="0" flipH="false" flipV="false">
            <a:off x="658368" y="4686300"/>
            <a:ext cx="3327400" cy="2921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 marL="0" lvl="0" indent="0" algn="l" defTabSz="914400" hangingPunct="true">
              <a:lnSpc>
                <a:spcPct val="130000"/>
              </a:lnSpc>
              <a:buSzPct val="100000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等线"/>
                <a:cs typeface="+mn-cs"/>
              </a:defRPr>
            </a:pPr>
            <a:r>
              <a:rPr lang="en-US" sz="1000" b="false" i="false" u="none" strike="noStrike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* </a:t>
            </a:r>
            <a:r>
              <a:rPr lang="en-US" sz="1000" b="false" i="false" u="none" strike="noStrike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扣分来</a:t>
            </a:r>
            <a:r>
              <a:rPr lang="en-US" sz="1000" b="false" i="false" u="none" strike="noStrike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自security_rubric理论评分，非攻击实验成功率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等线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59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实验评估(一)：性能对比</a:t>
            </a:r>
            <a:endParaRPr lang="en-US" sz="2800" dirty="false"/>
          </a:p>
        </p:txBody>
      </p:sp>
      <p:sp>
        <p:nvSpPr>
          <p:cNvPr id="60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Performance Comparison</a:t>
            </a:r>
            <a:endParaRPr lang="en-US" sz="1300" dirty="false"/>
          </a:p>
        </p:txBody>
      </p:sp>
      <p:sp>
        <p:nvSpPr>
          <p:cNvPr id="61" name="Shape 3"/>
          <p:cNvSpPr/>
          <p:nvPr/>
        </p:nvSpPr>
        <p:spPr>
          <a:xfrm rot="0" flipH="false" flipV="false">
            <a:off x="640080" y="1266444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62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 algn="r">
              <a:buNone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12</a:t>
            </a:r>
            <a:endParaRPr/>
          </a:p>
        </p:txBody>
      </p:sp>
      <p:sp>
        <p:nvSpPr>
          <p:cNvPr id="63" name="Shape 5"/>
          <p:cNvSpPr/>
          <p:nvPr/>
        </p:nvSpPr>
        <p:spPr>
          <a:xfrm rot="0" flipH="false" flipV="false">
            <a:off x="184803" y="3817620"/>
            <a:ext cx="3403598" cy="1028700"/>
          </a:xfrm>
          <a:prstGeom prst="roundRect">
            <a:avLst>
              <a:gd name="adj" fmla="val 6667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64" name="Text 6"/>
          <p:cNvSpPr/>
          <p:nvPr/>
        </p:nvSpPr>
        <p:spPr>
          <a:xfrm rot="0" flipH="false" flipV="false">
            <a:off x="103523" y="4039879"/>
            <a:ext cx="7863840" cy="75438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Autofit/>
          </a:bodyPr>
          <a:lstStyle/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8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Dilithium签名: ~2.4KB (占55%)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8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IoVAuthFrame: 16B (会话绑定)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8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ZKP proof: ~0.3KB (sigma响应)</a:t>
            </a:r>
            <a:endParaRPr/>
          </a:p>
          <a:p>
            <a:pPr marL="349758" indent="-194310">
              <a:lnSpc>
                <a:spcPct val="130000"/>
              </a:lnSpc>
              <a:buFont typeface="Arial" charset="0"/>
              <a:buChar char="●"/>
            </a:pPr>
            <a:r>
              <a:rPr sz="8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CSI特征向量: ~1.5KB (压缩后)</a:t>
            </a:r>
            <a:endParaRPr/>
          </a:p>
        </p:txBody>
      </p:sp>
      <p:sp>
        <p:nvSpPr>
          <p:cNvPr id="65" name=""/>
          <p:cNvSpPr txBox="true"/>
          <p:nvPr/>
        </p:nvSpPr>
        <p:spPr>
          <a:xfrm rot="0" flipH="false" flipV="false">
            <a:off x="184803" y="4846320"/>
            <a:ext cx="7391400" cy="2730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marL="0" lvl="0" indent="0" algn="l" defTabSz="914400" hangingPunct="true">
              <a:lnSpc>
                <a:spcPct val="130000"/>
              </a:lnSpc>
              <a:buSzPct val="100000"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等线"/>
                <a:cs typeface="+mn-cs"/>
              </a:defRPr>
            </a:pPr>
            <a:r>
              <a:rPr lang="en-US" sz="900" b="false" i="false" u="none" strike="noStrike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* I</a:t>
            </a:r>
            <a:r>
              <a:rPr lang="en-US" sz="900" b="false" i="false" u="none" strike="noStrike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ntel/Window</a:t>
            </a:r>
            <a:r>
              <a:rPr lang="en-US" sz="900" b="false" i="false" u="none" strike="noStrike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s, Python 3.x, </a:t>
            </a:r>
            <a:r>
              <a:rPr lang="en-US" sz="900" b="false" i="false" u="none" strike="noStrike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dilithium-py</a:t>
            </a:r>
            <a:r>
              <a:rPr lang="en-US" sz="900" b="false" i="false" u="none" strike="noStrike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+mn-cs"/>
              </a:rPr>
              <a:t>, 100轮平均; 延迟~4.9ms约为基线0.55ms的9倍但远&lt;50ms阈值</a:t>
            </a:r>
            <a:endParaRPr sz="1800">
              <a:solidFill>
                <a:schemeClr val="tx1">
                  <a:alpha val="100000"/>
                </a:schemeClr>
              </a:solidFill>
              <a:latin typeface="Calibri"/>
              <a:ea typeface="等线"/>
              <a:cs typeface="+mn-cs"/>
            </a:endParaRPr>
          </a:p>
        </p:txBody>
      </p:sp>
      <p:sp>
        <p:nvSpPr>
          <p:cNvPr id="66" name=""/>
          <p:cNvSpPr txBox="true"/>
          <p:nvPr/>
        </p:nvSpPr>
        <p:spPr>
          <a:xfrm rot="0" flipH="false" flipV="false">
            <a:off x="221379" y="3863975"/>
            <a:ext cx="2705100" cy="2730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sz="1200" b="true">
                <a:solidFill>
                  <a:srgbClr val="58A6FF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通信开销分解 (~4KB)</a:t>
            </a:r>
            <a:endParaRPr/>
          </a:p>
        </p:txBody>
      </p:sp>
      <p:pic>
        <p:nvPicPr>
          <p:cNvPr id="67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218265" y="1421393"/>
            <a:ext cx="6652738" cy="2300713"/>
          </a:xfrm>
          <a:prstGeom prst="rect"/>
        </p:spPr>
      </p:pic>
      <p:pic>
        <p:nvPicPr>
          <p:cNvPr id="68" name=""/>
          <p:cNvPicPr/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871003" y="1421393"/>
            <a:ext cx="2192720" cy="2300713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71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实验评估(二)：五组实验设计</a:t>
            </a:r>
            <a:endParaRPr lang="en-US" sz="2800" dirty="false"/>
          </a:p>
        </p:txBody>
      </p:sp>
      <p:sp>
        <p:nvSpPr>
          <p:cNvPr id="72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Five Experimental Groups</a:t>
            </a:r>
            <a:endParaRPr lang="en-US" sz="1300" dirty="false"/>
          </a:p>
        </p:txBody>
      </p:sp>
      <p:sp>
        <p:nvSpPr>
          <p:cNvPr id="73" name="Shape 3"/>
          <p:cNvSpPr/>
          <p:nvPr/>
        </p:nvSpPr>
        <p:spPr>
          <a:xfrm>
            <a:off x="658368" y="1325880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74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 algn="r">
              <a:buNone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13</a:t>
            </a:r>
            <a:endParaRPr/>
          </a:p>
        </p:txBody>
      </p:sp>
      <p:pic>
        <p:nvPicPr>
          <p:cNvPr id="75" name="Image 0" descr="c:\Users\ROG\.trae\work\6a1c1c2d358c809cd7c16c45\ppt_assets\experiments_table_1350x525.pn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303674" y="1339596"/>
            <a:ext cx="6536652" cy="2542032"/>
          </a:xfrm>
          <a:prstGeom prst="rect">
            <a:avLst/>
          </a:prstGeom>
        </p:spPr>
      </p:pic>
      <p:sp>
        <p:nvSpPr>
          <p:cNvPr id="76" name="Shape 5"/>
          <p:cNvSpPr/>
          <p:nvPr/>
        </p:nvSpPr>
        <p:spPr>
          <a:xfrm rot="0" flipH="false" flipV="false">
            <a:off x="457200" y="36576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77" name="Text 6"/>
          <p:cNvSpPr/>
          <p:nvPr/>
        </p:nvSpPr>
        <p:spPr>
          <a:xfrm rot="0" flipH="false" flipV="false">
            <a:off x="640080" y="37307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4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实验运行方式</a:t>
            </a:r>
            <a:endParaRPr lang="en-US" sz="1400" dirty="false"/>
          </a:p>
        </p:txBody>
      </p:sp>
      <p:sp>
        <p:nvSpPr>
          <p:cNvPr id="78" name="Text 7"/>
          <p:cNvSpPr/>
          <p:nvPr/>
        </p:nvSpPr>
        <p:spPr>
          <a:xfrm rot="0" flipH="false" flipV="false">
            <a:off x="640080" y="4005072"/>
            <a:ext cx="7863840" cy="804672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Autofit/>
          </a:bodyPr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8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一键运行：python scripts/run_all.py balanced（支持 fast / balanced / high_security 三套参数）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8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自动绘图：python scripts/plot_results.py → results/plots/*.png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8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输出结果：results/ 目录下 5 组 CSV + 汇总 summary.csv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8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三档可配置：configs/ 提供不同安全-性能权衡参数集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81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实验评估(三)：安全性评分</a:t>
            </a:r>
            <a:endParaRPr lang="en-US" sz="2800" dirty="false"/>
          </a:p>
        </p:txBody>
      </p:sp>
      <p:sp>
        <p:nvSpPr>
          <p:cNvPr id="82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Security Rubric &amp; Radar Analysis</a:t>
            </a:r>
            <a:endParaRPr lang="en-US" sz="1300" dirty="false"/>
          </a:p>
        </p:txBody>
      </p:sp>
      <p:sp>
        <p:nvSpPr>
          <p:cNvPr id="83" name="Shape 3"/>
          <p:cNvSpPr/>
          <p:nvPr/>
        </p:nvSpPr>
        <p:spPr>
          <a:xfrm>
            <a:off x="658368" y="1325880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84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 algn="r">
              <a:buNone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14</a:t>
            </a:r>
            <a:endParaRPr/>
          </a:p>
        </p:txBody>
      </p:sp>
      <p:sp>
        <p:nvSpPr>
          <p:cNvPr id="85" name="Shape 5"/>
          <p:cNvSpPr/>
          <p:nvPr/>
        </p:nvSpPr>
        <p:spPr>
          <a:xfrm rot="0" flipH="false" flipV="false">
            <a:off x="4846320" y="1394460"/>
            <a:ext cx="3657600" cy="3611879"/>
          </a:xfrm>
          <a:prstGeom prst="roundRect">
            <a:avLst>
              <a:gd name="adj" fmla="val 2000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86" name="Text 6"/>
          <p:cNvSpPr/>
          <p:nvPr/>
        </p:nvSpPr>
        <p:spPr>
          <a:xfrm rot="0" flipH="false" flipV="false">
            <a:off x="4983480" y="1435608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可解释安全评分模型</a:t>
            </a:r>
            <a:endParaRPr lang="en-US" sz="1500" dirty="false"/>
          </a:p>
        </p:txBody>
      </p:sp>
      <p:sp>
        <p:nvSpPr>
          <p:cNvPr id="87" name="Shape 7"/>
          <p:cNvSpPr/>
          <p:nvPr/>
        </p:nvSpPr>
        <p:spPr>
          <a:xfrm rot="0" flipH="false" flipV="false">
            <a:off x="4983480" y="1828800"/>
            <a:ext cx="54864" cy="32004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88" name="Text 8"/>
          <p:cNvSpPr/>
          <p:nvPr/>
        </p:nvSpPr>
        <p:spPr>
          <a:xfrm rot="0" flipH="false" flipV="false">
            <a:off x="5138928" y="182880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后量子抗性</a:t>
            </a:r>
            <a:endParaRPr lang="en-US" sz="1200" dirty="false"/>
          </a:p>
        </p:txBody>
      </p:sp>
      <p:sp>
        <p:nvSpPr>
          <p:cNvPr id="89" name="Text 9"/>
          <p:cNvSpPr/>
          <p:nvPr/>
        </p:nvSpPr>
        <p:spPr>
          <a:xfrm rot="0" flipH="false" flipV="false">
            <a:off x="6766560" y="182880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2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30%</a:t>
            </a:r>
            <a:endParaRPr lang="en-US" sz="1200" dirty="false"/>
          </a:p>
        </p:txBody>
      </p:sp>
      <p:sp>
        <p:nvSpPr>
          <p:cNvPr id="90" name="Shape 10"/>
          <p:cNvSpPr/>
          <p:nvPr/>
        </p:nvSpPr>
        <p:spPr>
          <a:xfrm rot="0" flipH="false" flipV="false">
            <a:off x="4983480" y="2240280"/>
            <a:ext cx="54864" cy="320040"/>
          </a:xfrm>
          <a:prstGeom prst="rect">
            <a:avLst/>
          </a:prstGeom>
          <a:solidFill>
            <a:srgbClr val="BC8CFF"/>
          </a:solidFill>
        </p:spPr>
        <p:txBody>
          <a:bodyPr/>
          <a:p/>
        </p:txBody>
      </p:sp>
      <p:sp>
        <p:nvSpPr>
          <p:cNvPr id="91" name="Text 11"/>
          <p:cNvSpPr/>
          <p:nvPr/>
        </p:nvSpPr>
        <p:spPr>
          <a:xfrm rot="0" flipH="false" flipV="false">
            <a:off x="5138928" y="224028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ZKP 隐私保护</a:t>
            </a:r>
            <a:endParaRPr lang="en-US" sz="1200" dirty="false"/>
          </a:p>
        </p:txBody>
      </p:sp>
      <p:sp>
        <p:nvSpPr>
          <p:cNvPr id="92" name="Text 12"/>
          <p:cNvSpPr/>
          <p:nvPr/>
        </p:nvSpPr>
        <p:spPr>
          <a:xfrm rot="0" flipH="false" flipV="false">
            <a:off x="6766560" y="224028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200" b="true" dirty="false">
                <a:solidFill>
                  <a:srgbClr val="BC8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25%</a:t>
            </a:r>
            <a:endParaRPr lang="en-US" sz="1200" dirty="false"/>
          </a:p>
        </p:txBody>
      </p:sp>
      <p:sp>
        <p:nvSpPr>
          <p:cNvPr id="93" name="Shape 13"/>
          <p:cNvSpPr/>
          <p:nvPr/>
        </p:nvSpPr>
        <p:spPr>
          <a:xfrm rot="0" flipH="false" flipV="false">
            <a:off x="4983480" y="2651760"/>
            <a:ext cx="54864" cy="320040"/>
          </a:xfrm>
          <a:prstGeom prst="rect">
            <a:avLst/>
          </a:prstGeom>
          <a:solidFill>
            <a:srgbClr val="3FB950"/>
          </a:solidFill>
        </p:spPr>
        <p:txBody>
          <a:bodyPr/>
          <a:p/>
        </p:txBody>
      </p:sp>
      <p:sp>
        <p:nvSpPr>
          <p:cNvPr id="94" name="Text 14"/>
          <p:cNvSpPr/>
          <p:nvPr/>
        </p:nvSpPr>
        <p:spPr>
          <a:xfrm rot="0" flipH="false" flipV="false">
            <a:off x="5138928" y="265176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物理层防伪</a:t>
            </a:r>
            <a:endParaRPr lang="en-US" sz="1200" dirty="false"/>
          </a:p>
        </p:txBody>
      </p:sp>
      <p:sp>
        <p:nvSpPr>
          <p:cNvPr id="95" name="Text 15"/>
          <p:cNvSpPr/>
          <p:nvPr/>
        </p:nvSpPr>
        <p:spPr>
          <a:xfrm rot="0" flipH="false" flipV="false">
            <a:off x="6766560" y="265176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200" b="true" dirty="false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20%</a:t>
            </a:r>
            <a:endParaRPr lang="en-US" sz="1200" dirty="false"/>
          </a:p>
        </p:txBody>
      </p:sp>
      <p:sp>
        <p:nvSpPr>
          <p:cNvPr id="96" name="Shape 16"/>
          <p:cNvSpPr/>
          <p:nvPr/>
        </p:nvSpPr>
        <p:spPr>
          <a:xfrm rot="0" flipH="false" flipV="false">
            <a:off x="4983480" y="3063240"/>
            <a:ext cx="54864" cy="320040"/>
          </a:xfrm>
          <a:prstGeom prst="rect">
            <a:avLst/>
          </a:prstGeom>
          <a:solidFill>
            <a:srgbClr val="F0883E"/>
          </a:solidFill>
        </p:spPr>
        <p:txBody>
          <a:bodyPr/>
          <a:p/>
        </p:txBody>
      </p:sp>
      <p:sp>
        <p:nvSpPr>
          <p:cNvPr id="97" name="Text 17"/>
          <p:cNvSpPr/>
          <p:nvPr/>
        </p:nvSpPr>
        <p:spPr>
          <a:xfrm rot="0" flipH="false" flipV="false">
            <a:off x="5138928" y="30632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会话绑定</a:t>
            </a:r>
            <a:endParaRPr lang="en-US" sz="1200" dirty="false"/>
          </a:p>
        </p:txBody>
      </p:sp>
      <p:sp>
        <p:nvSpPr>
          <p:cNvPr id="98" name="Text 18"/>
          <p:cNvSpPr/>
          <p:nvPr/>
        </p:nvSpPr>
        <p:spPr>
          <a:xfrm rot="0" flipH="false" flipV="false">
            <a:off x="6766560" y="306324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200" b="true" dirty="false">
                <a:solidFill>
                  <a:srgbClr val="F08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15%</a:t>
            </a:r>
            <a:endParaRPr lang="en-US" sz="1200" dirty="false"/>
          </a:p>
        </p:txBody>
      </p:sp>
      <p:sp>
        <p:nvSpPr>
          <p:cNvPr id="99" name="Shape 19"/>
          <p:cNvSpPr/>
          <p:nvPr/>
        </p:nvSpPr>
        <p:spPr>
          <a:xfrm rot="0" flipH="false" flipV="false">
            <a:off x="4983480" y="3474720"/>
            <a:ext cx="54864" cy="320040"/>
          </a:xfrm>
          <a:prstGeom prst="rect">
            <a:avLst/>
          </a:prstGeom>
          <a:solidFill>
            <a:srgbClr val="F78166"/>
          </a:solidFill>
        </p:spPr>
        <p:txBody>
          <a:bodyPr/>
          <a:p/>
        </p:txBody>
      </p:sp>
      <p:sp>
        <p:nvSpPr>
          <p:cNvPr id="100" name="Text 20"/>
          <p:cNvSpPr/>
          <p:nvPr/>
        </p:nvSpPr>
        <p:spPr>
          <a:xfrm rot="0" flipH="false" flipV="false">
            <a:off x="5138928" y="347472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完整性校验</a:t>
            </a:r>
            <a:endParaRPr lang="en-US" sz="1200" dirty="false"/>
          </a:p>
        </p:txBody>
      </p:sp>
      <p:sp>
        <p:nvSpPr>
          <p:cNvPr id="101" name="Text 21"/>
          <p:cNvSpPr/>
          <p:nvPr/>
        </p:nvSpPr>
        <p:spPr>
          <a:xfrm rot="0" flipH="false" flipV="false">
            <a:off x="6766560" y="34747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200" b="true" dirty="false">
                <a:solidFill>
                  <a:srgbClr val="F781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10%</a:t>
            </a:r>
            <a:endParaRPr lang="en-US" sz="1200" dirty="false"/>
          </a:p>
        </p:txBody>
      </p:sp>
      <p:sp>
        <p:nvSpPr>
          <p:cNvPr id="102" name="Shape 22"/>
          <p:cNvSpPr/>
          <p:nvPr/>
        </p:nvSpPr>
        <p:spPr>
          <a:xfrm rot="0" flipH="false" flipV="false">
            <a:off x="4983480" y="4069080"/>
            <a:ext cx="3383279" cy="9144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103" name="Text 23"/>
          <p:cNvSpPr/>
          <p:nvPr/>
        </p:nvSpPr>
        <p:spPr>
          <a:xfrm rot="0" flipH="false" flipV="false">
            <a:off x="4983480" y="4274820"/>
            <a:ext cx="3383279" cy="30678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en-US" sz="1600" b="true" dirty="false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加权总分: 95 / 100</a:t>
            </a:r>
            <a:endParaRPr lang="en-US" sz="1600" dirty="false"/>
          </a:p>
        </p:txBody>
      </p:sp>
      <p:sp>
        <p:nvSpPr>
          <p:cNvPr id="104" name="Text 24"/>
          <p:cNvSpPr/>
          <p:nvPr/>
        </p:nvSpPr>
        <p:spPr>
          <a:xfrm rot="0" flipH="false" flipV="false">
            <a:off x="4983480" y="4594860"/>
            <a:ext cx="3383279" cy="218646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en-US" sz="900" i="true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实现: src/evaluation/security_rubric.py</a:t>
            </a:r>
            <a:endParaRPr lang="en-US" sz="900" dirty="false"/>
          </a:p>
        </p:txBody>
      </p:sp>
      <p:sp>
        <p:nvSpPr>
          <p:cNvPr id="105" name=""/>
          <p:cNvSpPr txBox="true"/>
          <p:nvPr/>
        </p:nvSpPr>
        <p:spPr>
          <a:xfrm rot="0" flipH="false" flipV="false">
            <a:off x="658368" y="4704183"/>
            <a:ext cx="2749550" cy="2286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sz="900" i="true">
                <a:solidFill>
                  <a:srgbClr val="E55353">
                    <a:alpha val="100000"/>
                  </a:srgbClr>
                </a:solidFill>
                <a:latin typeface="Microsoft YaHei"/>
                <a:ea typeface="Microsoft YaHei"/>
                <a:cs typeface="+mn-cs"/>
              </a:rPr>
              <a:t>* 研究用加权模型，非Common Criteria/FIPS等级</a:t>
            </a:r>
            <a:endParaRPr/>
          </a:p>
        </p:txBody>
      </p:sp>
      <p:pic>
        <p:nvPicPr>
          <p:cNvPr id="10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658368" y="1385316"/>
            <a:ext cx="3767806" cy="3200399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bg>
      <p:bgPr>
        <a:solidFill>
          <a:srgbClr val="0D1117"/>
        </a:solidFill>
        <a:effectLst/>
      </p:bgPr>
    </p:bg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109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攻击仿真与防御验证</a:t>
            </a:r>
            <a:endParaRPr lang="en-US" sz="2800" dirty="false"/>
          </a:p>
        </p:txBody>
      </p:sp>
      <p:sp>
        <p:nvSpPr>
          <p:cNvPr id="110" name="Text 2"/>
          <p:cNvSpPr/>
          <p:nvPr/>
        </p:nvSpPr>
        <p:spPr>
          <a:xfrm>
            <a:off x="658368" y="96012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Attack Simulation — src/attacks/</a:t>
            </a:r>
            <a:endParaRPr lang="en-US" sz="1300" dirty="false"/>
          </a:p>
        </p:txBody>
      </p:sp>
      <p:sp>
        <p:nvSpPr>
          <p:cNvPr id="111" name="Shape 3"/>
          <p:cNvSpPr/>
          <p:nvPr/>
        </p:nvSpPr>
        <p:spPr>
          <a:xfrm>
            <a:off x="658368" y="1325880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112" name="Text 4"/>
          <p:cNvSpPr/>
          <p:nvPr/>
        </p:nvSpPr>
        <p:spPr>
          <a:xfrm rot="0" flipH="false" flipV="false">
            <a:off x="8445973" y="451395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 algn="r">
              <a:buNone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15</a:t>
            </a:r>
            <a:endParaRPr/>
          </a:p>
        </p:txBody>
      </p:sp>
      <p:sp>
        <p:nvSpPr>
          <p:cNvPr id="113" name="Shape 5"/>
          <p:cNvSpPr/>
          <p:nvPr/>
        </p:nvSpPr>
        <p:spPr>
          <a:xfrm rot="0" flipH="false" flipV="false">
            <a:off x="350555" y="3803904"/>
            <a:ext cx="8457324" cy="1167245"/>
          </a:xfrm>
          <a:prstGeom prst="roundRect">
            <a:avLst>
              <a:gd name="adj" fmla="val 6667"/>
            </a:avLst>
          </a:prstGeom>
          <a:solidFill>
            <a:srgbClr val="1C2333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" name="Shape 6"/>
          <p:cNvSpPr/>
          <p:nvPr/>
        </p:nvSpPr>
        <p:spPr>
          <a:xfrm rot="0" flipH="false" flipV="false">
            <a:off x="350555" y="3803904"/>
            <a:ext cx="8457324" cy="14961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Text 7"/>
          <p:cNvSpPr/>
          <p:nvPr/>
        </p:nvSpPr>
        <p:spPr>
          <a:xfrm rot="0" flipH="false" flipV="false">
            <a:off x="487715" y="3936017"/>
            <a:ext cx="8175413" cy="215359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en-US" sz="1200" b="true" dirty="false">
                <a:solidFill>
                  <a:srgbClr val="F78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 certificate_theft 边界case分析</a:t>
            </a:r>
            <a:endParaRPr lang="en-US" sz="1200" dirty="false"/>
          </a:p>
        </p:txBody>
      </p:sp>
      <p:sp>
        <p:nvSpPr>
          <p:cNvPr id="116" name="Text 8"/>
          <p:cNvSpPr/>
          <p:nvPr/>
        </p:nvSpPr>
        <p:spPr>
          <a:xfrm rot="0" flipH="false" flipV="false">
            <a:off x="487715" y="4151376"/>
            <a:ext cx="8175413" cy="315557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仿真CSI随机波动使rho偶发&gt;=0.85; 改进方向: 提高gamma阈值 / 多次采样取平均 / 多天线MIMO特征联合 / 替换为真实PHY层CSI采集</a:t>
            </a:r>
            <a:endParaRPr lang="en-US" sz="1000" dirty="false"/>
          </a:p>
        </p:txBody>
      </p:sp>
      <p:sp>
        <p:nvSpPr>
          <p:cNvPr id="117" name="Text 9"/>
          <p:cNvSpPr/>
          <p:nvPr/>
        </p:nvSpPr>
        <p:spPr>
          <a:xfrm rot="0" flipH="false" flipV="false">
            <a:off x="487715" y="4473957"/>
            <a:ext cx="8175413" cy="315557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Relay攻击rho均值~0.53远低于阈值(0.85), 检测率100%; Sybil攻击rho均值~0.61, 检测率~97%; Replay攻击检测率100% (IoVAuthFrame nonce机制)</a:t>
            </a:r>
            <a:endParaRPr lang="en-US" sz="1000" dirty="false"/>
          </a:p>
        </p:txBody>
      </p:sp>
      <p:graphicFrame>
        <p:nvGraphicFramePr>
          <p:cNvPr id="118" name="表格 16"/>
          <p:cNvGraphicFramePr/>
          <p:nvPr/>
        </p:nvGraphicFramePr>
        <p:xfrm rot="0" flipH="false" flipV="false">
          <a:off x="977900" y="1917986"/>
          <a:ext cx="7188200" cy="169545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1632119">
                  <a:extLst>
                    <a:ext uri="{9D8B030D-6E8A-4147-A177-3AD203B41FA5}">
                      <a16:colId val="1"/>
                    </a:ext>
                  </a:extLst>
                </a:gridCol>
                <a:gridCol w="2522456">
                  <a:extLst>
                    <a:ext uri="{9D8B030D-6E8A-4147-A177-3AD203B41FA5}">
                      <a16:colId val="2"/>
                    </a:ext>
                  </a:extLst>
                </a:gridCol>
                <a:gridCol w="1235963">
                  <a:extLst>
                    <a:ext uri="{9D8B030D-6E8A-4147-A177-3AD203B41FA5}">
                      <a16:colId val="3"/>
                    </a:ext>
                  </a:extLst>
                </a:gridCol>
                <a:gridCol w="1796846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false"/>
                        <a:t>攻击类型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zh-CN" altLang="en-US" sz="1400" b="true" kern="1200" dirty="fals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机制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zh-CN" altLang="en-US" sz="1400" b="true" kern="1200" dirty="fals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成功率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zh-CN" altLang="en-US" sz="1400" b="true" kern="1200" dirty="false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结论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29807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false">
                          <a:solidFill>
                            <a:schemeClr val="bg1"/>
                          </a:solidFill>
                        </a:rPr>
                        <a:t>重放攻击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en-US" altLang="zh-CN" sz="1200" kern="1200" dirty="false" err="tru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IoVAuthFrame</a:t>
                      </a:r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hash</a:t>
                      </a:r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去重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  <a:endParaRPr lang="zh-CN" altLang="en-US" sz="1200" kern="1200" dirty="false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完全防御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25760"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冒充攻击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无合法私钥，</a:t>
                      </a:r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ZKP</a:t>
                      </a:r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失败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  <a:endParaRPr lang="zh-CN" altLang="en-US" sz="1200" kern="1200" dirty="false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完全防御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225760"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证书窃取</a:t>
                      </a:r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异地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CSI</a:t>
                      </a:r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位置不匹配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  <a:endParaRPr lang="zh-CN" altLang="en-US" sz="1200" kern="1200" dirty="false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完全防御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225760"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远程中继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中继改变信道</a:t>
                      </a:r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ρ≈0.43</a:t>
                      </a:r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200" kern="1200" dirty="false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  <a:endParaRPr lang="zh-CN" altLang="en-US" sz="1200" kern="1200" dirty="false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完全防御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225760"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篡改攻击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false" eaLnBrk="true" latinLnBrk="false" hangingPunct="true"/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PQC</a:t>
                      </a:r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签名完整性校验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  <a:endParaRPr lang="zh-CN" altLang="en-US" sz="1200" kern="1200" dirty="false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false" eaLnBrk="true" fontAlgn="auto" latinLnBrk="false" hangingPunct="tru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false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完全防御</a:t>
                      </a:r>
                      <a:endParaRPr/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19" name="文本框 18"/>
          <p:cNvSpPr txBox="true"/>
          <p:nvPr/>
        </p:nvSpPr>
        <p:spPr>
          <a:xfrm>
            <a:off x="1864230" y="1520331"/>
            <a:ext cx="5049780" cy="369332"/>
          </a:xfrm>
          <a:prstGeom prst="rect">
            <a:avLst/>
          </a:prstGeom>
          <a:noFill/>
        </p:spPr>
        <p:txBody>
          <a:bodyPr wrap="none" rtlCol="false">
            <a:spAutoFit/>
          </a:bodyPr>
          <a:lstStyle/>
          <a:p>
            <a:pPr/>
            <a:r>
              <a:rPr lang="zh-CN" altLang="en-US" b="true" kern="0" spc="150" dirty="false">
                <a:solidFill>
                  <a:srgbClr val="F0F6F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攻击实验结果（</a:t>
            </a:r>
            <a:r>
              <a:rPr lang="en-US" altLang="zh-CN" b="true" kern="0" spc="150" dirty="false">
                <a:solidFill>
                  <a:srgbClr val="F0F6F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100次蒙特卡洛,fast配置</a:t>
            </a:r>
            <a:r>
              <a:rPr lang="zh-CN" altLang="en-US" b="true" kern="0" spc="150" dirty="false">
                <a:solidFill>
                  <a:srgbClr val="F0F6F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）</a:t>
            </a:r>
            <a:endParaRPr lang="zh-CN" altLang="en-US" dirty="fals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9">
    <p:bg>
      <p:bgPr>
        <a:solidFill>
          <a:srgbClr val="0D1117"/>
        </a:solidFill>
        <a:effectLst/>
      </p:bgPr>
    </p:bg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相关工作与2026竞品对比</a:t>
            </a:r>
            <a:endParaRPr lang="en-US" sz="2800" dirty="false"/>
          </a:p>
        </p:txBody>
      </p:sp>
      <p:sp>
        <p:nvSpPr>
          <p:cNvPr id="123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Competitor Landscape 2025-2026</a:t>
            </a:r>
            <a:endParaRPr lang="en-US" sz="1200" dirty="false"/>
          </a:p>
        </p:txBody>
      </p:sp>
      <p:sp>
        <p:nvSpPr>
          <p:cNvPr id="124" name="Shape 3"/>
          <p:cNvSpPr/>
          <p:nvPr/>
        </p:nvSpPr>
        <p:spPr>
          <a:xfrm>
            <a:off x="658368" y="1307592"/>
            <a:ext cx="8028432" cy="1097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" name="Text 4"/>
          <p:cNvSpPr/>
          <p:nvPr/>
        </p:nvSpPr>
        <p:spPr>
          <a:xfrm>
            <a:off x="8412480" y="47320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 algn="r">
              <a:buNone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/>
          </a:p>
        </p:txBody>
      </p:sp>
      <p:pic>
        <p:nvPicPr>
          <p:cNvPr id="126" name="Image 0" descr="c:\Users\ROG\.trae\work\6a1c1c2d358c809cd7c16c45\ppt_assets_v2\competitor_comparison_1500x450.png"/>
          <p:cNvPicPr>
            <a:picLocks noChangeAspect="true"/>
          </p:cNvPicPr>
          <p:nvPr/>
        </p:nvPicPr>
        <p:blipFill>
          <a:blip r:embed="rId2"/>
          <a:srcRect l="0" t="21786" r="0" b="12771"/>
          <a:stretch>
            <a:fillRect/>
          </a:stretch>
        </p:blipFill>
        <p:spPr>
          <a:xfrm rot="0" flipH="false" flipV="false">
            <a:off x="640080" y="1576530"/>
            <a:ext cx="7772400" cy="1525926"/>
          </a:xfrm>
          <a:prstGeom prst="rect">
            <a:avLst/>
          </a:prstGeom>
        </p:spPr>
      </p:pic>
      <p:sp>
        <p:nvSpPr>
          <p:cNvPr id="127" name="Shape 5"/>
          <p:cNvSpPr/>
          <p:nvPr/>
        </p:nvSpPr>
        <p:spPr>
          <a:xfrm rot="0" flipH="false" flipV="false">
            <a:off x="411480" y="33604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1C2333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" name="Shape 6"/>
          <p:cNvSpPr/>
          <p:nvPr/>
        </p:nvSpPr>
        <p:spPr>
          <a:xfrm rot="0" flipH="false" flipV="false">
            <a:off x="411480" y="3360420"/>
            <a:ext cx="8229600" cy="457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Text 7"/>
          <p:cNvSpPr/>
          <p:nvPr/>
        </p:nvSpPr>
        <p:spPr>
          <a:xfrm rot="0" flipH="false" flipV="false">
            <a:off x="612648" y="35433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>
              <a:buNone/>
            </a:pPr>
            <a:r>
              <a:rPr lang="zh-CN" sz="1400" b="true">
                <a:solidFill>
                  <a:srgbClr val="58A6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对比差异</a:t>
            </a:r>
            <a:endParaRPr/>
          </a:p>
        </p:txBody>
      </p:sp>
      <p:sp>
        <p:nvSpPr>
          <p:cNvPr id="130" name="Text 8"/>
          <p:cNvSpPr/>
          <p:nvPr/>
        </p:nvSpPr>
        <p:spPr>
          <a:xfrm rot="0" flipH="false" flipV="false">
            <a:off x="594360" y="3937235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ML-DSA格签名 + 非交互Sigma隐私层 + CSI物理第二因子 + V2X风格会话帧的四层融合原型，而非单独发明新原语</a:t>
            </a:r>
            <a:endParaRPr lang="en-US" sz="1100" dirty="false"/>
          </a:p>
        </p:txBody>
      </p:sp>
      <p:sp>
        <p:nvSpPr>
          <p:cNvPr id="131" name="Text 9"/>
          <p:cNvSpPr/>
          <p:nvPr/>
        </p:nvSpPr>
        <p:spPr>
          <a:xfrm rot="0" flipH="false" flipV="false">
            <a:off x="594360" y="41833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对比PQ-TDAA: 同有PQC+ZKP但本方案增加PLS物理层；对比Hermes' Seal: 同有ZKP但本方案为Sigma非SNARK+额外物理层+后量子</a:t>
            </a:r>
            <a:endParaRPr lang="en-US" sz="1000" dirty="fals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9">
    <p:bg>
      <p:bgPr>
        <a:solidFill>
          <a:srgbClr val="0D1117"/>
        </a:solidFill>
        <a:effectLst/>
      </p:bgPr>
    </p:bg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相关工作与2026竞品对比</a:t>
            </a:r>
            <a:endParaRPr lang="en-US" sz="2800" dirty="false"/>
          </a:p>
        </p:txBody>
      </p:sp>
      <p:sp>
        <p:nvSpPr>
          <p:cNvPr id="135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Competitor Landscape 2025-2026</a:t>
            </a:r>
            <a:endParaRPr lang="en-US" sz="1200" dirty="false"/>
          </a:p>
        </p:txBody>
      </p:sp>
      <p:sp>
        <p:nvSpPr>
          <p:cNvPr id="136" name="Shape 3"/>
          <p:cNvSpPr/>
          <p:nvPr/>
        </p:nvSpPr>
        <p:spPr>
          <a:xfrm>
            <a:off x="658368" y="1307592"/>
            <a:ext cx="8028432" cy="1097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Text 4"/>
          <p:cNvSpPr/>
          <p:nvPr/>
        </p:nvSpPr>
        <p:spPr>
          <a:xfrm>
            <a:off x="8412480" y="47320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 algn="r">
              <a:buNone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17</a:t>
            </a:r>
            <a:endParaRPr/>
          </a:p>
        </p:txBody>
      </p:sp>
      <p:pic>
        <p:nvPicPr>
          <p:cNvPr id="138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457200" y="1307592"/>
            <a:ext cx="6592512" cy="3620873"/>
          </a:xfrm>
          <a:prstGeom prst="rect"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141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创新定位与文献调研</a:t>
            </a:r>
            <a:endParaRPr lang="en-US" sz="2800" dirty="false"/>
          </a:p>
        </p:txBody>
      </p:sp>
      <p:sp>
        <p:nvSpPr>
          <p:cNvPr id="142" name="Text 2"/>
          <p:cNvSpPr/>
          <p:nvPr/>
        </p:nvSpPr>
        <p:spPr>
          <a:xfrm rot="0" flipH="false" flipV="false">
            <a:off x="658368" y="86868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Innovation &amp; Literature Positioning</a:t>
            </a:r>
            <a:endParaRPr lang="en-US" sz="1300" dirty="false"/>
          </a:p>
        </p:txBody>
      </p:sp>
      <p:sp>
        <p:nvSpPr>
          <p:cNvPr id="143" name="Shape 3"/>
          <p:cNvSpPr/>
          <p:nvPr/>
        </p:nvSpPr>
        <p:spPr>
          <a:xfrm>
            <a:off x="658368" y="1325880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144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 algn="r">
              <a:buNone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18</a:t>
            </a:r>
            <a:endParaRPr/>
          </a:p>
        </p:txBody>
      </p:sp>
      <p:sp>
        <p:nvSpPr>
          <p:cNvPr id="145" name="Shape 5"/>
          <p:cNvSpPr/>
          <p:nvPr/>
        </p:nvSpPr>
        <p:spPr>
          <a:xfrm>
            <a:off x="457200" y="1234440"/>
            <a:ext cx="4754880" cy="3383280"/>
          </a:xfrm>
          <a:prstGeom prst="roundRect">
            <a:avLst>
              <a:gd name="adj" fmla="val 2162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146" name="Text 6"/>
          <p:cNvSpPr/>
          <p:nvPr/>
        </p:nvSpPr>
        <p:spPr>
          <a:xfrm>
            <a:off x="640080" y="13258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相关文献 (2023–2026)</a:t>
            </a:r>
            <a:endParaRPr lang="en-US" sz="1500" dirty="false"/>
          </a:p>
        </p:txBody>
      </p:sp>
      <p:sp>
        <p:nvSpPr>
          <p:cNvPr id="147" name="Text 7"/>
          <p:cNvSpPr/>
          <p:nvPr/>
        </p:nvSpPr>
        <p:spPr>
          <a:xfrm>
            <a:off x="640080" y="1691640"/>
            <a:ext cx="4389120" cy="274320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 fontScale="100000"/>
          </a:bodyPr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Chen et al. (MDPI, 2023) — IoT 零知识认证综述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Chen et al. (J Supercomput, 2025) — 区块链+ZKP VANET 匿名认证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Hermes' Seal (arXiv, 2026) — V2V zk-SNARK 框架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Zhang et al. (Sensors, 2025) — 后量子区块链 IoV 取证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NIST CSRC (2024) — PQC 附加签名第二轮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IEEE COMST (2025) — V2X 安全与隐私大综述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arXiv:2510.08496 — AI-PQC 交通 CPS 韧性</a:t>
            </a:r>
            <a:endParaRPr lang="en-US" sz="1000"/>
          </a:p>
        </p:txBody>
      </p:sp>
      <p:sp>
        <p:nvSpPr>
          <p:cNvPr id="148" name="Shape 8"/>
          <p:cNvSpPr/>
          <p:nvPr/>
        </p:nvSpPr>
        <p:spPr>
          <a:xfrm>
            <a:off x="5394960" y="123444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149" name="Text 9"/>
          <p:cNvSpPr/>
          <p:nvPr/>
        </p:nvSpPr>
        <p:spPr>
          <a:xfrm>
            <a:off x="5532120" y="13258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500" b="true" dirty="false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本方案定位</a:t>
            </a:r>
            <a:endParaRPr lang="en-US" sz="1500" dirty="false"/>
          </a:p>
        </p:txBody>
      </p:sp>
      <p:sp>
        <p:nvSpPr>
          <p:cNvPr id="150" name="Shape 10"/>
          <p:cNvSpPr/>
          <p:nvPr/>
        </p:nvSpPr>
        <p:spPr>
          <a:xfrm>
            <a:off x="5532120" y="1737360"/>
            <a:ext cx="54864" cy="548640"/>
          </a:xfrm>
          <a:prstGeom prst="rect">
            <a:avLst/>
          </a:prstGeom>
          <a:solidFill>
            <a:srgbClr val="3FB950"/>
          </a:solidFill>
        </p:spPr>
        <p:txBody>
          <a:bodyPr/>
          <a:p/>
        </p:txBody>
      </p:sp>
      <p:sp>
        <p:nvSpPr>
          <p:cNvPr id="151" name="Text 11"/>
          <p:cNvSpPr/>
          <p:nvPr/>
        </p:nvSpPr>
        <p:spPr>
          <a:xfrm>
            <a:off x="5687568" y="173736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b="true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PQC 层</a:t>
            </a:r>
            <a:endParaRPr lang="en-US" sz="1300" dirty="false"/>
          </a:p>
        </p:txBody>
      </p:sp>
      <p:sp>
        <p:nvSpPr>
          <p:cNvPr id="152" name="Text 12"/>
          <p:cNvSpPr/>
          <p:nvPr/>
        </p:nvSpPr>
        <p:spPr>
          <a:xfrm>
            <a:off x="5687568" y="19751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对齐 NIST ML-DSA 路线，格基 IoV 同族</a:t>
            </a:r>
            <a:endParaRPr lang="en-US" sz="1000" dirty="false"/>
          </a:p>
        </p:txBody>
      </p:sp>
      <p:sp>
        <p:nvSpPr>
          <p:cNvPr id="153" name="Shape 13"/>
          <p:cNvSpPr/>
          <p:nvPr/>
        </p:nvSpPr>
        <p:spPr>
          <a:xfrm>
            <a:off x="5532120" y="2423160"/>
            <a:ext cx="54864" cy="548640"/>
          </a:xfrm>
          <a:prstGeom prst="rect">
            <a:avLst/>
          </a:prstGeom>
          <a:solidFill>
            <a:srgbClr val="3FB950"/>
          </a:solidFill>
        </p:spPr>
        <p:txBody>
          <a:bodyPr/>
          <a:p/>
        </p:txBody>
      </p:sp>
      <p:sp>
        <p:nvSpPr>
          <p:cNvPr id="154" name="Text 14"/>
          <p:cNvSpPr/>
          <p:nvPr/>
        </p:nvSpPr>
        <p:spPr>
          <a:xfrm>
            <a:off x="5687568" y="242316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b="true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ZKP 层</a:t>
            </a:r>
            <a:endParaRPr lang="en-US" sz="1300" dirty="false"/>
          </a:p>
        </p:txBody>
      </p:sp>
      <p:sp>
        <p:nvSpPr>
          <p:cNvPr id="155" name="Text 15"/>
          <p:cNvSpPr/>
          <p:nvPr/>
        </p:nvSpPr>
        <p:spPr>
          <a:xfrm>
            <a:off x="5687568" y="26609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Sigma+Fiat-Shamir → 可演进至 zk-SNARK</a:t>
            </a:r>
            <a:endParaRPr lang="en-US" sz="1000" dirty="false"/>
          </a:p>
        </p:txBody>
      </p:sp>
      <p:sp>
        <p:nvSpPr>
          <p:cNvPr id="156" name="Shape 16"/>
          <p:cNvSpPr/>
          <p:nvPr/>
        </p:nvSpPr>
        <p:spPr>
          <a:xfrm>
            <a:off x="5532120" y="3108960"/>
            <a:ext cx="54864" cy="548640"/>
          </a:xfrm>
          <a:prstGeom prst="rect">
            <a:avLst/>
          </a:prstGeom>
          <a:solidFill>
            <a:srgbClr val="3FB950"/>
          </a:solidFill>
        </p:spPr>
        <p:txBody>
          <a:bodyPr/>
          <a:p/>
        </p:txBody>
      </p:sp>
      <p:sp>
        <p:nvSpPr>
          <p:cNvPr id="157" name="Text 17"/>
          <p:cNvSpPr/>
          <p:nvPr/>
        </p:nvSpPr>
        <p:spPr>
          <a:xfrm>
            <a:off x="5687568" y="310896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b="true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PLS 层</a:t>
            </a:r>
            <a:endParaRPr lang="en-US" sz="1300" dirty="false"/>
          </a:p>
        </p:txBody>
      </p:sp>
      <p:sp>
        <p:nvSpPr>
          <p:cNvPr id="158" name="Text 18"/>
          <p:cNvSpPr/>
          <p:nvPr/>
        </p:nvSpPr>
        <p:spPr>
          <a:xfrm>
            <a:off x="5687568" y="33467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CSI 指纹仿真模块，可替换真实 PHY</a:t>
            </a:r>
            <a:endParaRPr lang="en-US" sz="1000" dirty="false"/>
          </a:p>
        </p:txBody>
      </p:sp>
      <p:sp>
        <p:nvSpPr>
          <p:cNvPr id="159" name="Shape 19"/>
          <p:cNvSpPr/>
          <p:nvPr/>
        </p:nvSpPr>
        <p:spPr>
          <a:xfrm>
            <a:off x="5532120" y="3794760"/>
            <a:ext cx="54864" cy="548640"/>
          </a:xfrm>
          <a:prstGeom prst="rect">
            <a:avLst/>
          </a:prstGeom>
          <a:solidFill>
            <a:srgbClr val="3FB950"/>
          </a:solidFill>
        </p:spPr>
        <p:txBody>
          <a:bodyPr/>
          <a:p/>
        </p:txBody>
      </p:sp>
      <p:sp>
        <p:nvSpPr>
          <p:cNvPr id="160" name="Text 20"/>
          <p:cNvSpPr/>
          <p:nvPr/>
        </p:nvSpPr>
        <p:spPr>
          <a:xfrm>
            <a:off x="5687568" y="379476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b="true" dirty="false">
                <a:solidFill>
                  <a:srgbClr val="F0F6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会话层</a:t>
            </a:r>
            <a:endParaRPr lang="en-US" sz="1300" dirty="false"/>
          </a:p>
        </p:txBody>
      </p:sp>
      <p:sp>
        <p:nvSpPr>
          <p:cNvPr id="161" name="Text 21"/>
          <p:cNvSpPr/>
          <p:nvPr/>
        </p:nvSpPr>
        <p:spPr>
          <a:xfrm>
            <a:off x="5687568" y="40325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IoVAuthFrame ↔ ETSI ITS 报文字段对照</a:t>
            </a:r>
            <a:endParaRPr lang="en-US" sz="1000" dirty="fals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实现边界与诚实声明</a:t>
            </a:r>
            <a:endParaRPr lang="en-US" sz="2800" dirty="false"/>
          </a:p>
        </p:txBody>
      </p:sp>
      <p:sp>
        <p:nvSpPr>
          <p:cNvPr id="174" name="Text 2"/>
          <p:cNvSpPr/>
          <p:nvPr/>
        </p:nvSpPr>
        <p:spPr>
          <a:xfrm rot="0" flipH="false" flipV="false">
            <a:off x="658368" y="953560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Honest Implementation Boundaries</a:t>
            </a:r>
            <a:endParaRPr lang="en-US" sz="1200" dirty="false"/>
          </a:p>
        </p:txBody>
      </p:sp>
      <p:sp>
        <p:nvSpPr>
          <p:cNvPr id="175" name="Shape 3"/>
          <p:cNvSpPr/>
          <p:nvPr/>
        </p:nvSpPr>
        <p:spPr>
          <a:xfrm>
            <a:off x="658368" y="1547324"/>
            <a:ext cx="8028432" cy="1097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Text 4"/>
          <p:cNvSpPr/>
          <p:nvPr/>
        </p:nvSpPr>
        <p:spPr>
          <a:xfrm>
            <a:off x="8412480" y="47320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 algn="r">
              <a:buNone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19</a:t>
            </a:r>
            <a:endParaRPr/>
          </a:p>
        </p:txBody>
      </p:sp>
      <p:sp>
        <p:nvSpPr>
          <p:cNvPr id="177" name="Shape 5"/>
          <p:cNvSpPr/>
          <p:nvPr/>
        </p:nvSpPr>
        <p:spPr>
          <a:xfrm>
            <a:off x="457200" y="1428452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" name="Shape 6"/>
          <p:cNvSpPr/>
          <p:nvPr/>
        </p:nvSpPr>
        <p:spPr>
          <a:xfrm>
            <a:off x="457200" y="1428452"/>
            <a:ext cx="73152" cy="74980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" name="Text 7"/>
          <p:cNvSpPr/>
          <p:nvPr/>
        </p:nvSpPr>
        <p:spPr>
          <a:xfrm>
            <a:off x="731520" y="15016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b="true" dirty="false">
                <a:solidFill>
                  <a:srgbClr val="F78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ZKP层</a:t>
            </a:r>
            <a:endParaRPr lang="en-US" sz="1300" dirty="false"/>
          </a:p>
        </p:txBody>
      </p:sp>
      <p:sp>
        <p:nvSpPr>
          <p:cNvPr id="180" name="Text 8"/>
          <p:cNvSpPr/>
          <p:nvPr/>
        </p:nvSpPr>
        <p:spPr>
          <a:xfrm>
            <a:off x="2286000" y="1501604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false" anchor="t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实现为Fiat-Shamir非交互Sigma演示骨架；完整ZK需明确relation与模拟器证明；演进方向zk-SNARK/PQ-TDAA式FS Schnorr</a:t>
            </a:r>
            <a:endParaRPr lang="en-US" sz="1000" dirty="false"/>
          </a:p>
        </p:txBody>
      </p:sp>
      <p:sp>
        <p:nvSpPr>
          <p:cNvPr id="181" name="Shape 9"/>
          <p:cNvSpPr/>
          <p:nvPr/>
        </p:nvSpPr>
        <p:spPr>
          <a:xfrm>
            <a:off x="457200" y="2233124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/>
        </p:spPr>
        <p:txBody>
          <a:bodyPr/>
          <a:p>
            <a:pPr/>
            <a:endParaRPr/>
          </a:p>
        </p:txBody>
      </p:sp>
      <p:sp>
        <p:nvSpPr>
          <p:cNvPr id="182" name="Shape 10"/>
          <p:cNvSpPr/>
          <p:nvPr/>
        </p:nvSpPr>
        <p:spPr>
          <a:xfrm>
            <a:off x="457200" y="2233124"/>
            <a:ext cx="73152" cy="74980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Text 11"/>
          <p:cNvSpPr/>
          <p:nvPr/>
        </p:nvSpPr>
        <p:spPr>
          <a:xfrm>
            <a:off x="731520" y="23062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b="true" dirty="false">
                <a:solidFill>
                  <a:srgbClr val="F78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PLS层</a:t>
            </a:r>
            <a:endParaRPr lang="en-US" sz="1300" dirty="false"/>
          </a:p>
        </p:txBody>
      </p:sp>
      <p:sp>
        <p:nvSpPr>
          <p:cNvPr id="184" name="Text 12"/>
          <p:cNvSpPr/>
          <p:nvPr/>
        </p:nvSpPr>
        <p:spPr>
          <a:xfrm>
            <a:off x="2286000" y="2306276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false" anchor="t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当前Rayleigh仿真；接口可换真实802.11p/5G NR CSI；路测是下一步</a:t>
            </a:r>
            <a:endParaRPr lang="en-US" sz="1000" dirty="false"/>
          </a:p>
        </p:txBody>
      </p:sp>
      <p:sp>
        <p:nvSpPr>
          <p:cNvPr id="185" name="Shape 13"/>
          <p:cNvSpPr/>
          <p:nvPr/>
        </p:nvSpPr>
        <p:spPr>
          <a:xfrm>
            <a:off x="457200" y="3037796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/>
        </p:spPr>
        <p:txBody>
          <a:bodyPr/>
          <a:p>
            <a:pPr/>
            <a:endParaRPr/>
          </a:p>
        </p:txBody>
      </p:sp>
      <p:sp>
        <p:nvSpPr>
          <p:cNvPr id="186" name="Shape 14"/>
          <p:cNvSpPr/>
          <p:nvPr/>
        </p:nvSpPr>
        <p:spPr>
          <a:xfrm>
            <a:off x="457200" y="3037796"/>
            <a:ext cx="73152" cy="74980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p>
            <a:pPr/>
            <a:endParaRPr/>
          </a:p>
        </p:txBody>
      </p:sp>
      <p:sp>
        <p:nvSpPr>
          <p:cNvPr id="187" name="Text 15"/>
          <p:cNvSpPr/>
          <p:nvPr/>
        </p:nvSpPr>
        <p:spPr>
          <a:xfrm>
            <a:off x="731520" y="31109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b="true" dirty="false">
                <a:solidFill>
                  <a:srgbClr val="F78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PQC层</a:t>
            </a:r>
            <a:endParaRPr lang="en-US" sz="1300" dirty="false"/>
          </a:p>
        </p:txBody>
      </p:sp>
      <p:sp>
        <p:nvSpPr>
          <p:cNvPr id="188" name="Text 16"/>
          <p:cNvSpPr/>
          <p:nvPr/>
        </p:nvSpPr>
        <p:spPr>
          <a:xfrm>
            <a:off x="2286000" y="3110948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false" anchor="t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dilithium-py教育实现；生产建议liboqs+硬件加速；Falcon-512为更小签名备选</a:t>
            </a:r>
            <a:endParaRPr lang="en-US" sz="1000" dirty="false"/>
          </a:p>
        </p:txBody>
      </p:sp>
      <p:sp>
        <p:nvSpPr>
          <p:cNvPr id="189" name="Shape 17"/>
          <p:cNvSpPr/>
          <p:nvPr/>
        </p:nvSpPr>
        <p:spPr>
          <a:xfrm>
            <a:off x="457200" y="3842468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Shape 18"/>
          <p:cNvSpPr/>
          <p:nvPr/>
        </p:nvSpPr>
        <p:spPr>
          <a:xfrm>
            <a:off x="457200" y="3842468"/>
            <a:ext cx="73152" cy="749808"/>
          </a:xfrm>
          <a:prstGeom prst="rect">
            <a:avLst/>
          </a:prstGeom>
          <a:solidFill>
            <a:srgbClr val="F78166"/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Text 19"/>
          <p:cNvSpPr/>
          <p:nvPr/>
        </p:nvSpPr>
        <p:spPr>
          <a:xfrm>
            <a:off x="731520" y="39156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b="true" dirty="false">
                <a:solidFill>
                  <a:srgbClr val="F781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安全评分</a:t>
            </a:r>
            <a:endParaRPr lang="en-US" sz="1300" dirty="false"/>
          </a:p>
        </p:txBody>
      </p:sp>
      <p:sp>
        <p:nvSpPr>
          <p:cNvPr id="192" name="Text 20"/>
          <p:cNvSpPr/>
          <p:nvPr/>
        </p:nvSpPr>
        <p:spPr>
          <a:xfrm>
            <a:off x="2286000" y="391562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false" anchor="t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自研五维加权对比表，用于课程方案横向比较，非渗透测试评级/CC认证</a:t>
            </a:r>
            <a:endParaRPr lang="en-US" sz="1000" dirty="fals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195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总结与展望</a:t>
            </a:r>
            <a:endParaRPr lang="en-US" sz="2800" dirty="false"/>
          </a:p>
        </p:txBody>
      </p:sp>
      <p:sp>
        <p:nvSpPr>
          <p:cNvPr id="196" name="Text 2"/>
          <p:cNvSpPr/>
          <p:nvPr/>
        </p:nvSpPr>
        <p:spPr>
          <a:xfrm rot="0" flipH="false" flipV="false">
            <a:off x="658368" y="914400"/>
            <a:ext cx="8028432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3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Conclusion &amp; Future Work</a:t>
            </a:r>
            <a:endParaRPr lang="en-US" sz="1300" dirty="false"/>
          </a:p>
        </p:txBody>
      </p:sp>
      <p:sp>
        <p:nvSpPr>
          <p:cNvPr id="197" name="Shape 3"/>
          <p:cNvSpPr/>
          <p:nvPr/>
        </p:nvSpPr>
        <p:spPr>
          <a:xfrm>
            <a:off x="658368" y="1325880"/>
            <a:ext cx="8028432" cy="13716"/>
          </a:xfrm>
          <a:prstGeom prst="rect">
            <a:avLst/>
          </a:prstGeom>
          <a:solidFill>
            <a:srgbClr val="30363D"/>
          </a:solidFill>
        </p:spPr>
        <p:txBody>
          <a:bodyPr/>
          <a:p/>
        </p:txBody>
      </p:sp>
      <p:sp>
        <p:nvSpPr>
          <p:cNvPr id="198" name="Text 4"/>
          <p:cNvSpPr/>
          <p:nvPr/>
        </p:nvSpPr>
        <p:spPr>
          <a:xfrm>
            <a:off x="8412480" y="46863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 fontScale="100000"/>
          </a:bodyPr>
          <a:lstStyle/>
          <a:p>
            <a:pPr marL="0" indent="0" algn="r">
              <a:buNone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20</a:t>
            </a:r>
            <a:endParaRPr/>
          </a:p>
        </p:txBody>
      </p:sp>
      <p:sp>
        <p:nvSpPr>
          <p:cNvPr id="199" name="Shape 5"/>
          <p:cNvSpPr/>
          <p:nvPr/>
        </p:nvSpPr>
        <p:spPr>
          <a:xfrm>
            <a:off x="457200" y="123444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200" name="Text 6"/>
          <p:cNvSpPr/>
          <p:nvPr/>
        </p:nvSpPr>
        <p:spPr>
          <a:xfrm>
            <a:off x="640080" y="132588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600" b="true" dirty="false">
                <a:solidFill>
                  <a:srgbClr val="3FB9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研究总结</a:t>
            </a:r>
            <a:endParaRPr lang="en-US" sz="1600" dirty="false"/>
          </a:p>
        </p:txBody>
      </p:sp>
      <p:sp>
        <p:nvSpPr>
          <p:cNvPr id="201" name="Text 7"/>
          <p:cNvSpPr/>
          <p:nvPr/>
        </p:nvSpPr>
        <p:spPr>
          <a:xfrm>
            <a:off x="640080" y="1709928"/>
            <a:ext cx="7863840" cy="1234440"/>
          </a:xfrm>
          <a:prstGeom prst="rect">
            <a:avLst/>
          </a:prstGeom>
          <a:noFill/>
        </p:spPr>
        <p:txBody>
          <a:bodyPr wrap="square" lIns="50800" tIns="76200" rIns="76200" bIns="50800" rtlCol="false" anchor="t">
            <a:normAutofit fontScale="100000"/>
          </a:bodyPr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提出并实现了 ZKP-PQC-PLS 三重融合的 IoV 安全认证方案，填补了"抗量子+强匿名+物理防伪"三位一体的空白</a:t>
            </a:r>
            <a:endParaRPr lang="en-US" sz="11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认证延迟 ~4.9ms，远低于 50ms IoV 实时性阈值；安全性得分 95/100，五维评估全面领先</a:t>
            </a:r>
            <a:endParaRPr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五组实验系统验证：主对比、消融、攻击仿真、灵敏度、可扩展性，具备完整可复现性</a:t>
            </a:r>
            <a:endParaRPr lang="en-US" sz="11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100">
                <a:solidFill>
                  <a:srgbClr val="8B949E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代码完全开源，docs 含文献调研与创新路线图，适用于研究与教学</a:t>
            </a:r>
            <a:endParaRPr lang="en-US" sz="1100"/>
          </a:p>
        </p:txBody>
      </p:sp>
      <p:sp>
        <p:nvSpPr>
          <p:cNvPr id="202" name="Shape 8"/>
          <p:cNvSpPr/>
          <p:nvPr/>
        </p:nvSpPr>
        <p:spPr>
          <a:xfrm>
            <a:off x="457200" y="324612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</p:spPr>
        <p:txBody>
          <a:bodyPr/>
          <a:p/>
        </p:txBody>
      </p:sp>
      <p:sp>
        <p:nvSpPr>
          <p:cNvPr id="203" name="Text 9"/>
          <p:cNvSpPr/>
          <p:nvPr/>
        </p:nvSpPr>
        <p:spPr>
          <a:xfrm>
            <a:off x="640080" y="333756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600" b="true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未来工作</a:t>
            </a:r>
            <a:endParaRPr lang="en-US" sz="1600" dirty="false"/>
          </a:p>
        </p:txBody>
      </p:sp>
      <p:sp>
        <p:nvSpPr>
          <p:cNvPr id="204" name="Shape 10"/>
          <p:cNvSpPr/>
          <p:nvPr/>
        </p:nvSpPr>
        <p:spPr>
          <a:xfrm>
            <a:off x="640080" y="3703320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3FB950"/>
          </a:solidFill>
        </p:spPr>
        <p:txBody>
          <a:bodyPr/>
          <a:p/>
        </p:txBody>
      </p:sp>
      <p:sp>
        <p:nvSpPr>
          <p:cNvPr id="205" name="Text 11"/>
          <p:cNvSpPr/>
          <p:nvPr/>
        </p:nvSpPr>
        <p:spPr>
          <a:xfrm>
            <a:off x="640080" y="3703320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000" b="true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短期</a:t>
            </a:r>
            <a:endParaRPr lang="en-US" sz="1000" dirty="false"/>
          </a:p>
        </p:txBody>
      </p:sp>
      <p:sp>
        <p:nvSpPr>
          <p:cNvPr id="206" name="Text 12"/>
          <p:cNvSpPr/>
          <p:nvPr/>
        </p:nvSpPr>
        <p:spPr>
          <a:xfrm>
            <a:off x="1371600" y="3703320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PQC 替换为 C/OQS 实现，PLS 降维量化，全面使用 IoVAuthFrame 绑定</a:t>
            </a:r>
            <a:endParaRPr lang="en-US" sz="1000" dirty="false"/>
          </a:p>
        </p:txBody>
      </p:sp>
      <p:sp>
        <p:nvSpPr>
          <p:cNvPr id="207" name="Shape 13"/>
          <p:cNvSpPr/>
          <p:nvPr/>
        </p:nvSpPr>
        <p:spPr>
          <a:xfrm>
            <a:off x="640080" y="4032504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F0883E"/>
          </a:solidFill>
        </p:spPr>
        <p:txBody>
          <a:bodyPr/>
          <a:p/>
        </p:txBody>
      </p:sp>
      <p:sp>
        <p:nvSpPr>
          <p:cNvPr id="208" name="Text 14"/>
          <p:cNvSpPr/>
          <p:nvPr/>
        </p:nvSpPr>
        <p:spPr>
          <a:xfrm>
            <a:off x="640080" y="4032504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000" b="true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中期</a:t>
            </a:r>
            <a:endParaRPr lang="en-US" sz="1000" dirty="false"/>
          </a:p>
        </p:txBody>
      </p:sp>
      <p:sp>
        <p:nvSpPr>
          <p:cNvPr id="209" name="Text 15"/>
          <p:cNvSpPr/>
          <p:nvPr/>
        </p:nvSpPr>
        <p:spPr>
          <a:xfrm>
            <a:off x="1371600" y="4032504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引入注册表假名 / 匿名凭证，评估环签名与群签名方案</a:t>
            </a:r>
            <a:endParaRPr lang="en-US" sz="1000" dirty="false"/>
          </a:p>
        </p:txBody>
      </p:sp>
      <p:sp>
        <p:nvSpPr>
          <p:cNvPr id="210" name="Shape 16"/>
          <p:cNvSpPr/>
          <p:nvPr/>
        </p:nvSpPr>
        <p:spPr>
          <a:xfrm>
            <a:off x="640080" y="4361688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BC8CFF"/>
          </a:solidFill>
        </p:spPr>
        <p:txBody>
          <a:bodyPr/>
          <a:p/>
        </p:txBody>
      </p:sp>
      <p:sp>
        <p:nvSpPr>
          <p:cNvPr id="211" name="Text 17"/>
          <p:cNvSpPr/>
          <p:nvPr/>
        </p:nvSpPr>
        <p:spPr>
          <a:xfrm>
            <a:off x="640080" y="4361688"/>
            <a:ext cx="59436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000" b="true" dirty="false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长期</a:t>
            </a:r>
            <a:endParaRPr lang="en-US" sz="1000" dirty="false"/>
          </a:p>
        </p:txBody>
      </p:sp>
      <p:sp>
        <p:nvSpPr>
          <p:cNvPr id="212" name="Text 18"/>
          <p:cNvSpPr/>
          <p:nvPr/>
        </p:nvSpPr>
        <p:spPr>
          <a:xfrm>
            <a:off x="1371600" y="4361688"/>
            <a:ext cx="7132320" cy="256032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0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将属性编码为电路，用 zk-SNARK 证明，对齐 Hermes' Seal 框架</a:t>
            </a:r>
            <a:endParaRPr lang="en-US" sz="1000" dirty="fals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215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216" name="Text 2"/>
          <p:cNvSpPr/>
          <p:nvPr/>
        </p:nvSpPr>
        <p:spPr>
          <a:xfrm>
            <a:off x="1828800" y="14630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4800" b="true" kern="0" spc="250" dirty="false">
                <a:solidFill>
                  <a:srgbClr val="F0F6F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谢谢！</a:t>
            </a:r>
            <a:endParaRPr lang="en-US" sz="4800" dirty="false"/>
          </a:p>
        </p:txBody>
      </p:sp>
      <p:sp>
        <p:nvSpPr>
          <p:cNvPr id="217" name="Text 3"/>
          <p:cNvSpPr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2000" kern="0" spc="4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2000" dirty="false"/>
          </a:p>
        </p:txBody>
      </p:sp>
      <p:sp>
        <p:nvSpPr>
          <p:cNvPr id="218" name="Shape 4"/>
          <p:cNvSpPr/>
          <p:nvPr/>
        </p:nvSpPr>
        <p:spPr>
          <a:xfrm>
            <a:off x="3200400" y="3017520"/>
            <a:ext cx="2743200" cy="18288"/>
          </a:xfrm>
          <a:prstGeom prst="rect">
            <a:avLst/>
          </a:prstGeom>
          <a:solidFill>
            <a:srgbClr val="58A6FF"/>
          </a:solidFill>
        </p:spPr>
        <p:txBody>
          <a:bodyPr/>
          <a:p/>
        </p:txBody>
      </p:sp>
      <p:sp>
        <p:nvSpPr>
          <p:cNvPr id="219" name="Text 5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400" dirty="false">
                <a:solidFill>
                  <a:srgbClr val="58A6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ZKP-PQC-PLS 融合架构 · IoV 安全认证</a:t>
            </a:r>
            <a:endParaRPr lang="en-US" sz="1400" dirty="false"/>
          </a:p>
        </p:txBody>
      </p:sp>
      <p:sp>
        <p:nvSpPr>
          <p:cNvPr id="220" name="Text 6"/>
          <p:cNvSpPr/>
          <p:nvPr/>
        </p:nvSpPr>
        <p:spPr>
          <a:xfrm>
            <a:off x="1371600" y="36576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200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身份认证与访问控制 — 课程小组作业</a:t>
            </a:r>
            <a:endParaRPr lang="en-US" sz="1200" dirty="false"/>
          </a:p>
        </p:txBody>
      </p:sp>
      <p:sp>
        <p:nvSpPr>
          <p:cNvPr id="221" name="Text 7"/>
          <p:cNvSpPr/>
          <p:nvPr/>
        </p:nvSpPr>
        <p:spPr>
          <a:xfrm>
            <a:off x="1371600" y="40233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false" anchor="ctr">
            <a:normAutofit/>
          </a:bodyPr>
          <a:lstStyle/>
          <a:p>
            <a:pPr marL="0" indent="0" algn="ctr">
              <a:buNone/>
            </a:pPr>
            <a:r>
              <a:rPr lang="en-US" sz="1100" i="true" dirty="false">
                <a:solidFill>
                  <a:srgbClr val="8B94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GitHub: github.com/arriverl/iov_zkp_promote</a:t>
            </a:r>
            <a:endParaRPr lang="en-US" sz="1100" dirty="fals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457200" y="411480"/>
            <a:ext cx="73152" cy="5943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4" name="Text 1"/>
          <p:cNvSpPr/>
          <p:nvPr/>
        </p:nvSpPr>
        <p:spPr>
          <a:xfrm>
            <a:off x="658368" y="411480"/>
            <a:ext cx="8028432" cy="59436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2800" b="true" kern="0" spc="150" dirty="false">
                <a:solidFill>
                  <a:srgbClr val="F0F6F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一键复现指南</a:t>
            </a:r>
            <a:endParaRPr lang="en-US" sz="2800" dirty="false"/>
          </a:p>
        </p:txBody>
      </p:sp>
      <p:sp>
        <p:nvSpPr>
          <p:cNvPr id="225" name="Text 2"/>
          <p:cNvSpPr/>
          <p:nvPr/>
        </p:nvSpPr>
        <p:spPr>
          <a:xfrm>
            <a:off x="658368" y="960120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Reproducibility Guide</a:t>
            </a:r>
            <a:endParaRPr lang="en-US" sz="1200" dirty="false"/>
          </a:p>
        </p:txBody>
      </p:sp>
      <p:sp>
        <p:nvSpPr>
          <p:cNvPr id="226" name="Shape 3"/>
          <p:cNvSpPr/>
          <p:nvPr/>
        </p:nvSpPr>
        <p:spPr>
          <a:xfrm>
            <a:off x="658368" y="1307592"/>
            <a:ext cx="8028432" cy="10973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Text 4"/>
          <p:cNvSpPr/>
          <p:nvPr/>
        </p:nvSpPr>
        <p:spPr>
          <a:xfrm>
            <a:off x="8412480" y="47320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 algn="r">
              <a:buNone/>
            </a:pPr>
            <a:r>
              <a:rPr lang="en-US" sz="10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" dirty="false"/>
          </a:p>
        </p:txBody>
      </p:sp>
      <p:sp>
        <p:nvSpPr>
          <p:cNvPr id="228" name="Shape 5"/>
          <p:cNvSpPr/>
          <p:nvPr/>
        </p:nvSpPr>
        <p:spPr>
          <a:xfrm rot="0" flipH="false" flipV="false">
            <a:off x="457200" y="1536192"/>
            <a:ext cx="3840479" cy="1382077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Shape 6"/>
          <p:cNvSpPr/>
          <p:nvPr/>
        </p:nvSpPr>
        <p:spPr>
          <a:xfrm rot="0" flipH="false" flipV="false">
            <a:off x="457200" y="1536192"/>
            <a:ext cx="3840479" cy="457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0" name="Text 7"/>
          <p:cNvSpPr/>
          <p:nvPr/>
        </p:nvSpPr>
        <p:spPr>
          <a:xfrm rot="0" flipH="false" flipV="false">
            <a:off x="594360" y="166192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b="true" dirty="false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运行实验</a:t>
            </a:r>
            <a:endParaRPr lang="en-US" sz="1200" dirty="false"/>
          </a:p>
        </p:txBody>
      </p:sp>
      <p:sp>
        <p:nvSpPr>
          <p:cNvPr id="231" name="Shape 8"/>
          <p:cNvSpPr/>
          <p:nvPr/>
        </p:nvSpPr>
        <p:spPr>
          <a:xfrm rot="0" flipH="false" flipV="false">
            <a:off x="594360" y="1970532"/>
            <a:ext cx="3566160" cy="3200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Text 9"/>
          <p:cNvSpPr/>
          <p:nvPr/>
        </p:nvSpPr>
        <p:spPr>
          <a:xfrm rot="0" flipH="false" flipV="false">
            <a:off x="731520" y="19705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scripts/run_all.py fast</a:t>
            </a:r>
            <a:endParaRPr lang="en-US" sz="1100" dirty="false"/>
          </a:p>
        </p:txBody>
      </p:sp>
      <p:sp>
        <p:nvSpPr>
          <p:cNvPr id="233" name="Shape 10"/>
          <p:cNvSpPr/>
          <p:nvPr/>
        </p:nvSpPr>
        <p:spPr>
          <a:xfrm rot="0" flipH="false" flipV="false">
            <a:off x="457200" y="3113059"/>
            <a:ext cx="3840479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/>
        </p:spPr>
        <p:txBody>
          <a:bodyPr/>
          <a:p>
            <a:pPr/>
            <a:endParaRPr/>
          </a:p>
        </p:txBody>
      </p:sp>
      <p:sp>
        <p:nvSpPr>
          <p:cNvPr id="234" name="Shape 11"/>
          <p:cNvSpPr/>
          <p:nvPr/>
        </p:nvSpPr>
        <p:spPr>
          <a:xfrm rot="0" flipH="false" flipV="false">
            <a:off x="457200" y="3113059"/>
            <a:ext cx="3840479" cy="457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35" name="Text 12"/>
          <p:cNvSpPr/>
          <p:nvPr/>
        </p:nvSpPr>
        <p:spPr>
          <a:xfrm rot="0" flipH="false" flipV="false">
            <a:off x="594360" y="3273079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b="true" dirty="false">
                <a:solidFill>
                  <a:srgbClr val="58A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生成图表</a:t>
            </a:r>
            <a:endParaRPr lang="en-US" sz="1200" dirty="false"/>
          </a:p>
        </p:txBody>
      </p:sp>
      <p:sp>
        <p:nvSpPr>
          <p:cNvPr id="236" name="Shape 13"/>
          <p:cNvSpPr/>
          <p:nvPr/>
        </p:nvSpPr>
        <p:spPr>
          <a:xfrm rot="0" flipH="false" flipV="false">
            <a:off x="594360" y="3609358"/>
            <a:ext cx="3566160" cy="32004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Text 14"/>
          <p:cNvSpPr/>
          <p:nvPr/>
        </p:nvSpPr>
        <p:spPr>
          <a:xfrm rot="0" flipH="false" flipV="false">
            <a:off x="731520" y="360935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100" dirty="false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scripts/plot_results.py</a:t>
            </a:r>
            <a:endParaRPr lang="en-US" sz="1100" dirty="false"/>
          </a:p>
        </p:txBody>
      </p:sp>
      <p:sp>
        <p:nvSpPr>
          <p:cNvPr id="238" name="Shape 15"/>
          <p:cNvSpPr/>
          <p:nvPr/>
        </p:nvSpPr>
        <p:spPr>
          <a:xfrm rot="0" flipH="false" flipV="false">
            <a:off x="4480560" y="1536192"/>
            <a:ext cx="4206240" cy="1382099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/>
        </p:spPr>
        <p:txBody>
          <a:bodyPr/>
          <a:p>
            <a:pPr/>
            <a:endParaRPr/>
          </a:p>
        </p:txBody>
      </p:sp>
      <p:sp>
        <p:nvSpPr>
          <p:cNvPr id="239" name="Shape 16"/>
          <p:cNvSpPr/>
          <p:nvPr/>
        </p:nvSpPr>
        <p:spPr>
          <a:xfrm rot="0" flipH="false" flipV="false">
            <a:off x="4480560" y="1536192"/>
            <a:ext cx="4206240" cy="4572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p>
            <a:pPr/>
            <a:endParaRPr/>
          </a:p>
        </p:txBody>
      </p:sp>
      <p:sp>
        <p:nvSpPr>
          <p:cNvPr id="240" name="Text 17"/>
          <p:cNvSpPr/>
          <p:nvPr/>
        </p:nvSpPr>
        <p:spPr>
          <a:xfrm rot="0" flipH="false" flipV="false">
            <a:off x="4617720" y="166778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b="true" dirty="false">
                <a:solidFill>
                  <a:srgbClr val="3FB9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输出文件</a:t>
            </a:r>
            <a:endParaRPr lang="en-US" sz="1200" dirty="false"/>
          </a:p>
        </p:txBody>
      </p:sp>
      <p:sp>
        <p:nvSpPr>
          <p:cNvPr id="241" name="Text 18"/>
          <p:cNvSpPr/>
          <p:nvPr/>
        </p:nvSpPr>
        <p:spPr>
          <a:xfrm rot="0" flipH="false" flipV="false">
            <a:off x="4617720" y="1896386"/>
            <a:ext cx="4069079" cy="919493"/>
          </a:xfrm>
          <a:prstGeom prst="rect">
            <a:avLst/>
          </a:prstGeom>
          <a:noFill/>
          <a:ln/>
        </p:spPr>
        <p:txBody>
          <a:bodyPr wrap="square" lIns="38100" tIns="76200" rIns="76200" bIns="38100" rtlCol="false" anchor="t">
            <a:noAutofit/>
          </a:bodyPr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results/*.csv — 实验原始数据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figures/*.png — 可视化图表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latency_chart / security_radar / ablation_chart</a:t>
            </a:r>
            <a:endParaRPr lang="en-US" sz="1000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>
                <a:solidFill>
                  <a:srgbClr val="8B949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attack_results / comm_breakdown / competitor_comparison</a:t>
            </a:r>
            <a:endParaRPr lang="en-US" sz="1000"/>
          </a:p>
        </p:txBody>
      </p:sp>
      <p:sp>
        <p:nvSpPr>
          <p:cNvPr id="242" name="Shape 19"/>
          <p:cNvSpPr/>
          <p:nvPr/>
        </p:nvSpPr>
        <p:spPr>
          <a:xfrm rot="0" flipH="false" flipV="false">
            <a:off x="4480560" y="3135919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Shape 20"/>
          <p:cNvSpPr/>
          <p:nvPr/>
        </p:nvSpPr>
        <p:spPr>
          <a:xfrm rot="0" flipH="false" flipV="false">
            <a:off x="4480560" y="3135919"/>
            <a:ext cx="4206240" cy="45720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Text 21"/>
          <p:cNvSpPr/>
          <p:nvPr/>
        </p:nvSpPr>
        <p:spPr>
          <a:xfrm rot="0" flipH="false" flipV="false">
            <a:off x="4617720" y="3273079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1200" b="true" dirty="false">
                <a:solidFill>
                  <a:srgbClr val="BC8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三档配置预设</a:t>
            </a:r>
            <a:endParaRPr lang="en-US" sz="1200" dirty="false"/>
          </a:p>
        </p:txBody>
      </p:sp>
      <p:sp>
        <p:nvSpPr>
          <p:cNvPr id="245" name="Text 22"/>
          <p:cNvSpPr/>
          <p:nvPr/>
        </p:nvSpPr>
        <p:spPr>
          <a:xfrm rot="0" flipH="false" flipV="false">
            <a:off x="4617720" y="3501679"/>
            <a:ext cx="3931920" cy="731520"/>
          </a:xfrm>
          <a:prstGeom prst="rect">
            <a:avLst/>
          </a:prstGeom>
          <a:noFill/>
          <a:ln/>
        </p:spPr>
        <p:txBody>
          <a:bodyPr wrap="square" lIns="38100" tIns="76200" rIns="76200" bIns="38100" rtlCol="false" anchor="t">
            <a:normAutofit/>
          </a:bodyPr>
          <a:lstStyle/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 — 轻量级快速验证 (100轮,~30s)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— 均衡配置 (500轮,~2min)</a:t>
            </a:r>
            <a:endParaRPr lang="en-US" sz="1000" dirty="false"/>
          </a:p>
          <a:p>
            <a:pPr marL="342900" indent="-342900">
              <a:lnSpc>
                <a:spcPct val="130000"/>
              </a:lnSpc>
              <a:buSzPct val="100000"/>
              <a:buChar char="●"/>
            </a:pPr>
            <a:r>
              <a:rPr lang="en-US" sz="1000" dirty="false">
                <a:solidFill>
                  <a:srgbClr val="8B94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high_security — 高安全级 (1000轮,~5min)</a:t>
            </a:r>
            <a:endParaRPr lang="en-US" sz="1000" dirty="false"/>
          </a:p>
        </p:txBody>
      </p:sp>
      <p:sp>
        <p:nvSpPr>
          <p:cNvPr id="246" name="Text 23"/>
          <p:cNvSpPr/>
          <p:nvPr/>
        </p:nvSpPr>
        <p:spPr>
          <a:xfrm rot="0" flipH="false" flipV="false">
            <a:off x="457200" y="43799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false" anchor="ctr">
            <a:normAutofit/>
          </a:bodyPr>
          <a:lstStyle/>
          <a:p>
            <a:pPr marL="0" indent="0">
              <a:buNone/>
            </a:pPr>
            <a:r>
              <a:rPr lang="en-US" sz="900" i="true" dirty="false">
                <a:solidFill>
                  <a:srgbClr val="E553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依赖: Python 3.x + dilithium-py + numpy + matplotlib; Windows/Linux/macOS 均支持</a:t>
            </a:r>
            <a:endParaRPr lang="en-US" sz="900" dirty="fals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2026-06-16T15:58:35Z</dcterms:created>
  <dcterms:modified xsi:type="dcterms:W3CDTF">2026-06-16T15:58:35Z</dcterms:modified>
</cp:coreProperties>
</file>